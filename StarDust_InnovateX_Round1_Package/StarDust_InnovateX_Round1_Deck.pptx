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Speaker 1]
Good morning. We are Team [name], Theme 3.
Mumbai already uses floating trash booms at drain and nullah outfalls to stop plastic before it reaches creeks and mangroves. Our question is simple and operational: between two maintenance visits, is the barrier still doing its job, or does a crew need to go now?
StarDust is a monitoring retrofit for those existing barriers. It is not a garbage collector and not a robot. Two level sensors read the water surface upstream and downstream of the boom; one load cell reads the pull in one mooring line. An ESP32 checks whether those readings are valid, compares them with the clean-barrier baseline, and tells the maintenance team when inspection is worth a visit.
Everything you see on the right is a conceptual illustration, not an installed system. What we are bringing today is a defined problem, an architecture, and a test plan that can prove or disprove the idea.
Transition: let me start with where the plastic actually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Speaker 1]
Our specific source is floating packaging plastic — bottles, wrappers and film — carried by stormwater through drains and nullahs towards Mumbai's creeks. The organisers' brief quotes a survey estimate of about 5,000 tonnes a year leaving Mumbai's waterways into the Arabian Sea.
The city already responds with trash booms at outfalls. These were commissioned in July 2022 after National Green Tribunal directions, and in July 2026 the BMC Standing Committee approved a 14.5 crore, two-year contract just to operate and maintain booms on six rivers and nullahs in the western suburbs. So the infrastructure and the maintenance spend already exist. Reports across years give different site counts, so we do not quote a single number of booms.
The orange box is our problem. From the office, a boom that is overloaded, sagging or being bypassed looks exactly like one that is working. Maintenance is scheduled. A UK trash-screen monitoring supplier, Aquasition, describes the same pattern: scheduled cleaning is costly and often misdirected — crews visit clear screens and miss blocked ones, and an uncleared screen can itself raise flood risk.
Who feels this? The drainage engineer who has to assign crews, the crew itself, and the asset owner or O&amp;M contractor who pays for each visit.
Our candidate investigation area is the Malad Creek catchment, which the brief itself names. To be clear: we have not surveyed an outlet, we have not confirmed a boom at a specific site, and we have no municipal permission or partnership. That is a next step, not a claim.
Likely objection — "Why not just look?": a worker can look, but only when they are there. StarDust records condition between visits and helps prioritise across several sites.
Sources: InnovateX brief; Free Press Journal 30 Jul 2026 (BMC Rs 14.5 cr contract); Aquasition 2019 note.
Transition: monitoring like this is not new — so what exists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Speaker 2]
Before anyone asks "what is new?", here is our honest answer.
Scheduled manual inspection is today's practice. Single level sensors and differential-level monitoring are already sold: Aquasition offers upstream/downstream level monitoring with SMS alarms for trash screens, and AMETEK publishes an application note using two pressure transmitters across a traveling screen to trigger cleaning. Cameras are also sold. Mooring and net tension has been studied — a Brazilian group at IPT tested a scale trash boom in a towing basin and found that line tension depends on flow speed and on how debris accumulates, and Ocean Engineering and Fluids papers model trash-net tension.
So the components and both measurement types exist. What we did not find is a low-cost retrofit for floating drain booms that reads both signals, keeps an explicit UNCERTAIN and FAULT state instead of guessing, and is tested fairly against using just one of those signals. That limited search is not a patent clearance.
Why might one signal not be enough? Level rises with rain and tide, not just debris. Tension rises with flow speed even on a clean boom. Each has its own confounder; together they may separate cases better — or they may not. That is the experiment.
Key line: "We are not claiming the sensors are new. We are testing whether combining them makes better inspection decisions, and we will publish the answer even if it is no."
Transition: here is how the system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Speaker 2]
Left is a side view across the barrier. Debris piling against the boom can hold water back, so the upstream surface sits higher than the downstream one. That height difference is delta-h.
The two ultrasonic sensors measure distance down to the water, d-A and d-B — not water height. Because brackets are never at exactly the same height, each sensor's elevation is surveyed to one common datum. Water elevation h = z minus d, and delta-h = h-A minus h-B. Subtracting raw distances would give the wrong answer if mounts differ.
The second signal is mechanical: a load cell in one mooring line measures the pull the boom puts on its anchor. The HX711 is a 24-bit bridge amplifier that turns the tiny load-cell signal into digital samples for the ESP32. Tension in newtons = calibration factor times raw reading minus zero offset, calibrated through the real fixture with known weights. Kilograms of mass and newtons of force are not interchangeable — and tension does not tell us plastic weight.
Right is the data path, exactly as built for the bench: Level A and B triggered one after the other to avoid acoustic cross-talk, load through the HX711, into the ESP32. The ESP32 timestamps, applies calibration, checks validity — out of range, stale, impossible jumps — compares with a clean-barrier baseline and applies persistence rules. Output is a state, the raw log, and a local alert. Wi-Fi is optional; local logging continues if the network drops.
The final block is a person. The engineer reviews, the crew inspects and clears, and recovery is verified. StarDust never opens the boom, never removes waste.
Engineering honesty: JSN-SR04T 5 V echo needs level shifting for the 3.3 V ESP32; a hobby bar load cell is not a rated marine tension link; one monitored line does not certify the whole structure.
Transition: the hard part is deciding what those readings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Speaker 3]
This is the most important engineering slide, because a sensor reading is evidence, not a diagnosis.
Every cycle starts with reading both levels and the load, and applying calibration. First question: is the data valid? Out of range, stale, impossible jump, disconnected — that becomes FAULT, logged with a reason. We never replace a failed reading with zero and call it normal.
Second: are we inside the conditions we actually tested — known flow direction, known regime? If not, for example tidal reversal, the honest answer is UNCERTAIN, and a person checks.
Only then do we compare with the clean-barrier baseline and apply a persistence window, so a short spike is not an alarm. Near baseline: NORMAL. One signal shifts alone: WATCH. Both valid signals show a sustained change: INSPECTION REQUEST — which means "suspected blockage, go and look", not "confirmed blockage".
The orange lane matters for safety. If valid water level or valid load crosses its own limit, that warning goes out on its own. A faulty level sensor must not suppress a valid high-load warning.
The grey box gives the confounding cases. A flow surge on a clean boom raises tension because drag rises with flow — Δh barely moves, so WATCH, not inspection. High tide or backwater raises both levels and can shrink Δh with no new debris — UNCERTAIN. Debris build-up should push both, sustained. These are the expected behaviours we will test; they are not measured results. Requiring both signals may cut false alarms but miss some events — that trade-off is measured, not assumed.
Boundary: StarDust does not clear waste, open the boom, identify or weigh plastic, or guarantee flood prevention. Thresholds and persistence times come from calibration; none are validated yet. No machine learning — transparent rules.
Transition: so how do we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Speaker 3]
Here is how we turn the idea into evidence.
The planned rig is a tabletop recirculating channel: reservoir and pump, a transparent channel, a model boom on a model mooring with the load cell, sensors A and B, and an adjustable weir at the end so we can create downstream backwater on purpose.
Five test conditions. A: clean flow, to set the baseline. B: add controlled, retrievable debris at the same flow. C: the trap — reset to a clean boom and change only the flow, to see whether anything falsely calls a blockage. D: raise the weir for backwater. E: unplug a sensor, add stale data, then clear the debris and check that readings recover.
The fairness rule: we fix all three decision methods — level-only, tension-only and combined — before evaluation, then run them on the same held-out runs. Ground truth comes from our own photos, rulers and known debris amounts, never from StarDust's output. The full matrix is three debris states, two flows, two downstream settings, five repeats — 60 runs — in the appendix.
We will report false-positive rate, missed-event rate, detection delay, how often the system says uncertain, and the fraction of valid data — with raw counts, not just percentages.
Cost: the bench rig is budgeted at 8,650 rupees base plus 15% reserve, 9,947.50, rounded to 9,950. These are planning allowances, not supplier quotes, and assume a borrowed laptop. This is not a municipal installation price — field cost needs rated sensors, enclosure, power, installation and servicing, quoted per site.
Go / no-go: first, the changes must be clearly larger than sensor uncertainty. Second, combined logic must beat the simpler methods. If not, we simplify — and that is still a useful answer for a city.
Transition: if it passes, here is the route to real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Speaker 4]
If StarDust passes the bench, here is the route — and every arrow is a gate.
Stage one is bench verification with the three-method comparison. Stage two, a permitted site survey in the Malad Creek catchment: confirm there is an existing boom, safe bank access, a named crew and that the signals are measurable there. Stage three, one pilot with a named operator. Stage four, measured evaluation against a comparable baseline period, accounting for rain and collection effort. Only then, expansion — each site calibrated, never one universal threshold. Nothing beyond stage one is arranged yet.
The workflow keeps a human in charge: condition flag, engineer reviews the evidence, crew inspects, clears if needed, and the readings must recover before the case closes. An acknowledgement is not proof of clearance.
What we will measure: alert-to-inspection time, inspections and unnecessary visits, false alerts and missed events, plastic weighed independently with its disposal destination, and operating and servicing cost. We will not credit StarDust for all plastic the boom catches — only for any extra that better maintenance can be shown to add.
The value is prospective: better-timed visits across many booms, booms kept working through storms, and an evidence trail for O&amp;M contracts like the one BMC just awarded. If a site is always staffed, the value may be low — and the pilot would show that.
Closing line: "We are not promising a cleaner sea. We are offering a cheap, testable way to know when a boom needs a crew — and the evidence to decide if it is worth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hardware questions. All part choices are bench candidates, not final field selections. Numbers in the worked example are a calculation demo, not thresholds 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URLs:
https://www.aquasition.co.uk/2019/11/10/trash-screen-monitoring-systems/
https://www.ametekusg.com/learningzone/application-notes/differential-measurement-traveling-screen
https://www.iahr.org/library/info?pid=21351
https://www.sciencedirect.com/science/article/abs/pii/S002980182202827X
https://doaj.org/article/94350f750211417eae0115e5f3502121
https://www.freepressjournal.in/mumbai/mumbai-bmc-approves-145-crore-contract-to-maintain-trash-boom-systems-across-6-rivers-and-nullahs
https://robu.in/wp-content/uploads/2019/10/JSN-SR04T-2.0.pdf
https://robu.in/wp-content/uploads/2024/04/R101046-HX711.pdf
https://techfest.org/competitions/innovatex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plan, not completed work. If time permits only a subset, report exactly which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equation for discussion only: annual avoided unnecessary visits + documented avoided downtime − annualised installed cost − added service cost. No numbers are claimed because none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maintenance interval, battery autonomy, enclosure rating or structural rating has been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73952"/>
            <a:ext cx="5486400" cy="274320"/>
          </a:xfrm>
          <a:prstGeom prst="rect">
            <a:avLst/>
          </a:prstGeom>
          <a:noFill/>
          <a:ln/>
        </p:spPr>
        <p:txBody>
          <a:bodyPr wrap="square" lIns="0" tIns="0" rIns="0" bIns="0" rtlCol="0" anchor="ctr"/>
          <a:lstStyle/>
          <a:p>
            <a:pPr indent="0" marL="0">
              <a:buNone/>
            </a:pPr>
            <a:r>
              <a:rPr lang="en-US" sz="1000" dirty="0">
                <a:solidFill>
                  <a:srgbClr val="5B6B7F"/>
                </a:solidFill>
              </a:rPr>
              <a:t>StarDust  |  InnovateX 2026-27  |  Theme 3</a:t>
            </a:r>
            <a:endParaRPr lang="en-US" sz="10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0B2545"/>
          </a:solidFill>
          <a:ln w="9525">
            <a:solidFill>
              <a:srgbClr val="0B2545"/>
            </a:solidFill>
            <a:prstDash val="solid"/>
          </a:ln>
        </p:spPr>
      </p:sp>
      <p:sp>
        <p:nvSpPr>
          <p:cNvPr id="3" name="Text 1"/>
          <p:cNvSpPr txBox="1"/>
          <p:nvPr/>
        </p:nvSpPr>
        <p:spPr>
          <a:xfrm>
            <a:off x="502920" y="457200"/>
            <a:ext cx="4754880" cy="274320"/>
          </a:xfrm>
          <a:prstGeom prst="rect">
            <a:avLst/>
          </a:prstGeom>
          <a:noFill/>
          <a:ln/>
        </p:spPr>
        <p:txBody>
          <a:bodyPr wrap="square" lIns="0" tIns="0" rIns="0" bIns="0" rtlCol="0" anchor="t"/>
          <a:lstStyle/>
          <a:p>
            <a:pPr indent="0" marL="0">
              <a:buNone/>
            </a:pPr>
            <a:r>
              <a:rPr lang="en-US" sz="1100" b="1" spc="100" kern="0" dirty="0">
                <a:solidFill>
                  <a:srgbClr val="7FD3DB"/>
                </a:solidFill>
                <a:latin typeface="Calibri" pitchFamily="34" charset="0"/>
                <a:ea typeface="Calibri" pitchFamily="34" charset="-122"/>
                <a:cs typeface="Calibri" pitchFamily="34" charset="-120"/>
              </a:rPr>
              <a:t>THEME 3  ·  RISING PLASTIC POLLUTION IN COASTAL CITIES</a:t>
            </a:r>
            <a:endParaRPr lang="en-US" sz="1100" dirty="0"/>
          </a:p>
        </p:txBody>
      </p:sp>
      <p:sp>
        <p:nvSpPr>
          <p:cNvPr id="4" name="Text 2"/>
          <p:cNvSpPr txBox="1"/>
          <p:nvPr/>
        </p:nvSpPr>
        <p:spPr>
          <a:xfrm>
            <a:off x="502920" y="868680"/>
            <a:ext cx="4754880" cy="914400"/>
          </a:xfrm>
          <a:prstGeom prst="rect">
            <a:avLst/>
          </a:prstGeom>
          <a:noFill/>
          <a:ln/>
        </p:spPr>
        <p:txBody>
          <a:bodyPr wrap="square" lIns="0" tIns="0" rIns="0" bIns="0" rtlCol="0" anchor="t"/>
          <a:lstStyle/>
          <a:p>
            <a:pPr indent="0" marL="0">
              <a:buNone/>
            </a:pPr>
            <a:r>
              <a:rPr lang="en-US" sz="5400" b="1" dirty="0">
                <a:solidFill>
                  <a:srgbClr val="FFFFFF"/>
                </a:solidFill>
                <a:latin typeface="Calibri" pitchFamily="34" charset="0"/>
                <a:ea typeface="Calibri" pitchFamily="34" charset="-122"/>
                <a:cs typeface="Calibri" pitchFamily="34" charset="-120"/>
              </a:rPr>
              <a:t>StarDust</a:t>
            </a:r>
            <a:endParaRPr lang="en-US" sz="5400" dirty="0"/>
          </a:p>
        </p:txBody>
      </p:sp>
      <p:sp>
        <p:nvSpPr>
          <p:cNvPr id="5" name="Text 3"/>
          <p:cNvSpPr txBox="1"/>
          <p:nvPr/>
        </p:nvSpPr>
        <p:spPr>
          <a:xfrm>
            <a:off x="502920" y="1828800"/>
            <a:ext cx="4572000" cy="1188720"/>
          </a:xfrm>
          <a:prstGeom prst="rect">
            <a:avLst/>
          </a:prstGeom>
          <a:noFill/>
          <a:ln/>
        </p:spPr>
        <p:txBody>
          <a:bodyPr wrap="square" lIns="0" tIns="0" rIns="0" bIns="0" rtlCol="0" anchor="t"/>
          <a:lstStyle/>
          <a:p>
            <a:pPr indent="0" marL="0">
              <a:buNone/>
            </a:pPr>
            <a:r>
              <a:rPr lang="en-US" sz="2200" b="1" dirty="0">
                <a:solidFill>
                  <a:srgbClr val="FFD3B5"/>
                </a:solidFill>
                <a:latin typeface="Calibri" pitchFamily="34" charset="0"/>
                <a:ea typeface="Calibri" pitchFamily="34" charset="-122"/>
                <a:cs typeface="Calibri" pitchFamily="34" charset="-120"/>
              </a:rPr>
              <a:t>Is the trash barrier still doing its job — or does a crew need to go now?</a:t>
            </a:r>
            <a:endParaRPr lang="en-US" sz="2200" dirty="0"/>
          </a:p>
        </p:txBody>
      </p:sp>
      <p:sp>
        <p:nvSpPr>
          <p:cNvPr id="6" name="Text 4"/>
          <p:cNvSpPr txBox="1"/>
          <p:nvPr/>
        </p:nvSpPr>
        <p:spPr>
          <a:xfrm>
            <a:off x="502920" y="3108960"/>
            <a:ext cx="4572000" cy="1463040"/>
          </a:xfrm>
          <a:prstGeom prst="rect">
            <a:avLst/>
          </a:prstGeom>
          <a:noFill/>
          <a:ln/>
        </p:spPr>
        <p:txBody>
          <a:bodyPr wrap="square" lIns="0" tIns="0" rIns="0" bIns="0" rtlCol="0" anchor="t"/>
          <a:lstStyle/>
          <a:p>
            <a:pPr indent="0" marL="0">
              <a:buNone/>
            </a:pPr>
            <a:r>
              <a:rPr lang="en-US" sz="1500" dirty="0">
                <a:solidFill>
                  <a:srgbClr val="E6EDF3"/>
                </a:solidFill>
                <a:latin typeface="Calibri" pitchFamily="34" charset="0"/>
                <a:ea typeface="Calibri" pitchFamily="34" charset="-122"/>
                <a:cs typeface="Calibri" pitchFamily="34" charset="-120"/>
              </a:rPr>
              <a:t>A low-cost monitoring retrofit for existing drainage trash barriers. It reads the water-level difference across the barrier and the tension in one mooring line, checks whether the data is valid, and tells the maintenance team when an inspection is worth a visit.</a:t>
            </a:r>
            <a:endParaRPr lang="en-US" sz="1500" dirty="0"/>
          </a:p>
        </p:txBody>
      </p:sp>
      <p:sp>
        <p:nvSpPr>
          <p:cNvPr id="7" name="Shape 5"/>
          <p:cNvSpPr/>
          <p:nvPr/>
        </p:nvSpPr>
        <p:spPr>
          <a:xfrm>
            <a:off x="502920" y="4754880"/>
            <a:ext cx="4526280" cy="1371600"/>
          </a:xfrm>
          <a:prstGeom prst="roundRect">
            <a:avLst>
              <a:gd name="adj" fmla="val 4000"/>
            </a:avLst>
          </a:prstGeom>
          <a:solidFill>
            <a:srgbClr val="13335C"/>
          </a:solidFill>
          <a:ln w="9525">
            <a:solidFill>
              <a:srgbClr val="13335C"/>
            </a:solidFill>
            <a:prstDash val="solid"/>
          </a:ln>
        </p:spPr>
      </p:sp>
      <p:sp>
        <p:nvSpPr>
          <p:cNvPr id="8" name="Text 6"/>
          <p:cNvSpPr txBox="1"/>
          <p:nvPr/>
        </p:nvSpPr>
        <p:spPr>
          <a:xfrm>
            <a:off x="685800" y="4864608"/>
            <a:ext cx="4206240" cy="1463040"/>
          </a:xfrm>
          <a:prstGeom prst="rect">
            <a:avLst/>
          </a:prstGeom>
          <a:noFill/>
          <a:ln/>
        </p:spPr>
        <p:txBody>
          <a:bodyPr wrap="square" lIns="0" tIns="0" rIns="0" bIns="0" rtlCol="0" anchor="t"/>
          <a:lstStyle/>
          <a:p>
            <a:pPr indent="0" marL="0">
              <a:spcAft>
                <a:spcPts val="400"/>
              </a:spcAft>
              <a:buNone/>
            </a:pPr>
            <a:r>
              <a:rPr lang="en-US" sz="1300" b="1" dirty="0">
                <a:solidFill>
                  <a:srgbClr val="7FD3DB"/>
                </a:solidFill>
                <a:latin typeface="Calibri" pitchFamily="34" charset="0"/>
                <a:ea typeface="Calibri" pitchFamily="34" charset="-122"/>
                <a:cs typeface="Calibri" pitchFamily="34" charset="-120"/>
              </a:rPr>
              <a:t>Team: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[Team name]   </a:t>
            </a:r>
            <a:pPr indent="0" marL="0">
              <a:spcAft>
                <a:spcPts val="400"/>
              </a:spcAft>
              <a:buNone/>
            </a:pPr>
            <a:r>
              <a:rPr lang="en-US" sz="1300" b="1" dirty="0">
                <a:solidFill>
                  <a:srgbClr val="7FD3DB"/>
                </a:solidFill>
                <a:latin typeface="Calibri" pitchFamily="34" charset="0"/>
                <a:ea typeface="Calibri" pitchFamily="34" charset="-122"/>
                <a:cs typeface="Calibri" pitchFamily="34" charset="-120"/>
              </a:rPr>
              <a:t>Team ID: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[ID]</a:t>
            </a:r>
            <a:endParaRPr lang="en-US" sz="1300" dirty="0"/>
          </a:p>
          <a:p>
            <a:pPr indent="0" marL="0">
              <a:spcAft>
                <a:spcPts val="400"/>
              </a:spcAft>
              <a:buNone/>
            </a:pPr>
            <a:r>
              <a:rPr lang="en-US" sz="1300" b="1" dirty="0">
                <a:solidFill>
                  <a:srgbClr val="7FD3DB"/>
                </a:solidFill>
                <a:latin typeface="Calibri" pitchFamily="34" charset="0"/>
                <a:ea typeface="Calibri" pitchFamily="34" charset="-122"/>
                <a:cs typeface="Calibri" pitchFamily="34" charset="-120"/>
              </a:rPr>
              <a:t>Members: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[Member 1], [Member 2], [Member 3], [Member 4]</a:t>
            </a:r>
            <a:endParaRPr lang="en-US" sz="1300" dirty="0"/>
          </a:p>
          <a:p>
            <a:pPr indent="0" marL="0">
              <a:spcAft>
                <a:spcPts val="400"/>
              </a:spcAft>
              <a:buNone/>
            </a:pPr>
            <a:r>
              <a:rPr lang="en-US" sz="1300" b="1" dirty="0">
                <a:solidFill>
                  <a:srgbClr val="7FD3DB"/>
                </a:solidFill>
                <a:latin typeface="Calibri" pitchFamily="34" charset="0"/>
                <a:ea typeface="Calibri" pitchFamily="34" charset="-122"/>
                <a:cs typeface="Calibri" pitchFamily="34" charset="-120"/>
              </a:rPr>
              <a:t>Institute: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[Institution]</a:t>
            </a:r>
            <a:endParaRPr lang="en-US" sz="1300" dirty="0"/>
          </a:p>
          <a:p>
            <a:pPr indent="0" marL="0">
              <a:spcAft>
                <a:spcPts val="400"/>
              </a:spcAft>
              <a:buNone/>
            </a:pPr>
            <a:r>
              <a:rPr lang="en-US" sz="1300" b="1" dirty="0">
                <a:solidFill>
                  <a:srgbClr val="7FD3DB"/>
                </a:solidFill>
                <a:latin typeface="Calibri" pitchFamily="34" charset="0"/>
                <a:ea typeface="Calibri" pitchFamily="34" charset="-122"/>
                <a:cs typeface="Calibri" pitchFamily="34" charset="-120"/>
              </a:rPr>
              <a:t>Contact: </a:t>
            </a:r>
            <a:pPr indent="0" marL="0">
              <a:spcAft>
                <a:spcPts val="400"/>
              </a:spcAft>
              <a:buNone/>
            </a:pPr>
            <a:r>
              <a:rPr lang="en-US" sz="1300" dirty="0">
                <a:solidFill>
                  <a:srgbClr val="FFFFFF"/>
                </a:solidFill>
                <a:latin typeface="Calibri" pitchFamily="34" charset="0"/>
                <a:ea typeface="Calibri" pitchFamily="34" charset="-122"/>
                <a:cs typeface="Calibri" pitchFamily="34" charset="-120"/>
              </a:rPr>
              <a:t>[email]  ·  [phone]</a:t>
            </a:r>
            <a:endParaRPr lang="en-US" sz="1300" dirty="0"/>
          </a:p>
        </p:txBody>
      </p:sp>
      <p:sp>
        <p:nvSpPr>
          <p:cNvPr id="9" name="Text 7"/>
          <p:cNvSpPr txBox="1"/>
          <p:nvPr/>
        </p:nvSpPr>
        <p:spPr>
          <a:xfrm>
            <a:off x="5852160" y="502920"/>
            <a:ext cx="5943600" cy="365760"/>
          </a:xfrm>
          <a:prstGeom prst="rect">
            <a:avLst/>
          </a:prstGeom>
          <a:noFill/>
          <a:ln/>
        </p:spPr>
        <p:txBody>
          <a:bodyPr wrap="square" lIns="0" tIns="0" rIns="0" bIns="0" rtlCol="0" anchor="t"/>
          <a:lstStyle/>
          <a:p>
            <a:pPr indent="0" marL="0">
              <a:buNone/>
            </a:pPr>
            <a:r>
              <a:rPr lang="en-US" sz="1600" b="1" dirty="0">
                <a:solidFill>
                  <a:srgbClr val="0B2545"/>
                </a:solidFill>
                <a:latin typeface="Calibri" pitchFamily="34" charset="0"/>
                <a:ea typeface="Calibri" pitchFamily="34" charset="-122"/>
                <a:cs typeface="Calibri" pitchFamily="34" charset="-120"/>
              </a:rPr>
              <a:t>Proposed arrangement on an existing barrier (plan view)</a:t>
            </a:r>
            <a:endParaRPr lang="en-US" sz="1600" dirty="0"/>
          </a:p>
        </p:txBody>
      </p:sp>
      <p:sp>
        <p:nvSpPr>
          <p:cNvPr id="10" name="Shape 8"/>
          <p:cNvSpPr/>
          <p:nvPr/>
        </p:nvSpPr>
        <p:spPr>
          <a:xfrm>
            <a:off x="5989320" y="1508760"/>
            <a:ext cx="5760720" cy="528066"/>
          </a:xfrm>
          <a:prstGeom prst="rect">
            <a:avLst/>
          </a:prstGeom>
          <a:solidFill>
            <a:srgbClr val="DCE3E8"/>
          </a:solidFill>
          <a:ln w="9525">
            <a:solidFill>
              <a:srgbClr val="DCE3E8"/>
            </a:solidFill>
            <a:prstDash val="solid"/>
          </a:ln>
        </p:spPr>
      </p:sp>
      <p:sp>
        <p:nvSpPr>
          <p:cNvPr id="11" name="Shape 9"/>
          <p:cNvSpPr/>
          <p:nvPr/>
        </p:nvSpPr>
        <p:spPr>
          <a:xfrm>
            <a:off x="5989320" y="5013198"/>
            <a:ext cx="5760720" cy="528066"/>
          </a:xfrm>
          <a:prstGeom prst="rect">
            <a:avLst/>
          </a:prstGeom>
          <a:solidFill>
            <a:srgbClr val="DCE3E8"/>
          </a:solidFill>
          <a:ln w="9525">
            <a:solidFill>
              <a:srgbClr val="DCE3E8"/>
            </a:solidFill>
            <a:prstDash val="solid"/>
          </a:ln>
        </p:spPr>
      </p:sp>
      <p:sp>
        <p:nvSpPr>
          <p:cNvPr id="12" name="Shape 10"/>
          <p:cNvSpPr/>
          <p:nvPr/>
        </p:nvSpPr>
        <p:spPr>
          <a:xfrm>
            <a:off x="5989320" y="2036826"/>
            <a:ext cx="5760720" cy="2976372"/>
          </a:xfrm>
          <a:prstGeom prst="rect">
            <a:avLst/>
          </a:prstGeom>
          <a:solidFill>
            <a:srgbClr val="BFE6EA"/>
          </a:solidFill>
          <a:ln w="9525">
            <a:solidFill>
              <a:srgbClr val="BFE6EA"/>
            </a:solidFill>
            <a:prstDash val="solid"/>
          </a:ln>
        </p:spPr>
      </p:sp>
      <p:sp>
        <p:nvSpPr>
          <p:cNvPr id="13" name="Text 11"/>
          <p:cNvSpPr txBox="1"/>
          <p:nvPr/>
        </p:nvSpPr>
        <p:spPr>
          <a:xfrm>
            <a:off x="6133338" y="3380994"/>
            <a:ext cx="768096" cy="274320"/>
          </a:xfrm>
          <a:prstGeom prst="rect">
            <a:avLst/>
          </a:prstGeom>
          <a:noFill/>
          <a:ln/>
        </p:spPr>
        <p:txBody>
          <a:bodyPr wrap="square" lIns="0" tIns="0" rIns="0" bIns="0" rtlCol="0" anchor="t"/>
          <a:lstStyle/>
          <a:p>
            <a:pPr indent="0" marL="0">
              <a:buNone/>
            </a:pPr>
            <a:r>
              <a:rPr lang="en-US" sz="1100" b="1" dirty="0">
                <a:solidFill>
                  <a:srgbClr val="0E8C99"/>
                </a:solidFill>
                <a:latin typeface="Calibri" pitchFamily="34" charset="0"/>
                <a:ea typeface="Calibri" pitchFamily="34" charset="-122"/>
                <a:cs typeface="Calibri" pitchFamily="34" charset="-120"/>
              </a:rPr>
              <a:t>FLOW</a:t>
            </a:r>
            <a:endParaRPr lang="en-US" sz="1100" dirty="0"/>
          </a:p>
        </p:txBody>
      </p:sp>
      <p:sp>
        <p:nvSpPr>
          <p:cNvPr id="14" name="Shape 12"/>
          <p:cNvSpPr/>
          <p:nvPr/>
        </p:nvSpPr>
        <p:spPr>
          <a:xfrm>
            <a:off x="6133338" y="3765042"/>
            <a:ext cx="864108" cy="914"/>
          </a:xfrm>
          <a:prstGeom prst="line">
            <a:avLst/>
          </a:prstGeom>
          <a:noFill/>
          <a:ln w="31750">
            <a:solidFill>
              <a:srgbClr val="0E8C99"/>
            </a:solidFill>
            <a:prstDash val="solid"/>
            <a:tailEnd type="triangle"/>
          </a:ln>
        </p:spPr>
      </p:sp>
      <p:sp>
        <p:nvSpPr>
          <p:cNvPr id="15" name="Shape 13"/>
          <p:cNvSpPr/>
          <p:nvPr/>
        </p:nvSpPr>
        <p:spPr>
          <a:xfrm>
            <a:off x="8101584" y="2564892"/>
            <a:ext cx="163220" cy="115214"/>
          </a:xfrm>
          <a:prstGeom prst="rect">
            <a:avLst/>
          </a:prstGeom>
          <a:solidFill>
            <a:srgbClr val="C47A3A"/>
          </a:solidFill>
          <a:ln w="6350">
            <a:solidFill>
              <a:srgbClr val="6B7682"/>
            </a:solidFill>
            <a:prstDash val="solid"/>
          </a:ln>
        </p:spPr>
      </p:sp>
      <p:sp>
        <p:nvSpPr>
          <p:cNvPr id="16" name="Shape 14"/>
          <p:cNvSpPr/>
          <p:nvPr/>
        </p:nvSpPr>
        <p:spPr>
          <a:xfrm rot="1500000">
            <a:off x="8389620" y="2948940"/>
            <a:ext cx="163220" cy="115214"/>
          </a:xfrm>
          <a:prstGeom prst="ellipse">
            <a:avLst/>
          </a:prstGeom>
          <a:solidFill>
            <a:srgbClr val="8C96A3"/>
          </a:solidFill>
          <a:ln w="6350">
            <a:solidFill>
              <a:srgbClr val="6B7682"/>
            </a:solidFill>
            <a:prstDash val="solid"/>
          </a:ln>
        </p:spPr>
      </p:sp>
      <p:sp>
        <p:nvSpPr>
          <p:cNvPr id="17" name="Shape 15"/>
          <p:cNvSpPr/>
          <p:nvPr/>
        </p:nvSpPr>
        <p:spPr>
          <a:xfrm rot="3000000">
            <a:off x="8245602" y="3429000"/>
            <a:ext cx="163220" cy="115214"/>
          </a:xfrm>
          <a:prstGeom prst="ellipse">
            <a:avLst/>
          </a:prstGeom>
          <a:solidFill>
            <a:srgbClr val="C47A3A"/>
          </a:solidFill>
          <a:ln w="6350">
            <a:solidFill>
              <a:srgbClr val="6B7682"/>
            </a:solidFill>
            <a:prstDash val="solid"/>
          </a:ln>
        </p:spPr>
      </p:sp>
      <p:sp>
        <p:nvSpPr>
          <p:cNvPr id="18" name="Shape 16"/>
          <p:cNvSpPr/>
          <p:nvPr/>
        </p:nvSpPr>
        <p:spPr>
          <a:xfrm rot="4500000">
            <a:off x="8581644" y="3813048"/>
            <a:ext cx="163220" cy="115214"/>
          </a:xfrm>
          <a:prstGeom prst="rect">
            <a:avLst/>
          </a:prstGeom>
          <a:solidFill>
            <a:srgbClr val="8C96A3"/>
          </a:solidFill>
          <a:ln w="6350">
            <a:solidFill>
              <a:srgbClr val="6B7682"/>
            </a:solidFill>
            <a:prstDash val="solid"/>
          </a:ln>
        </p:spPr>
      </p:sp>
      <p:sp>
        <p:nvSpPr>
          <p:cNvPr id="19" name="Shape 17"/>
          <p:cNvSpPr/>
          <p:nvPr/>
        </p:nvSpPr>
        <p:spPr>
          <a:xfrm rot="6000000">
            <a:off x="8389620" y="4293108"/>
            <a:ext cx="163220" cy="115214"/>
          </a:xfrm>
          <a:prstGeom prst="ellipse">
            <a:avLst/>
          </a:prstGeom>
          <a:solidFill>
            <a:srgbClr val="C47A3A"/>
          </a:solidFill>
          <a:ln w="6350">
            <a:solidFill>
              <a:srgbClr val="6B7682"/>
            </a:solidFill>
            <a:prstDash val="solid"/>
          </a:ln>
        </p:spPr>
      </p:sp>
      <p:sp>
        <p:nvSpPr>
          <p:cNvPr id="20" name="Shape 18"/>
          <p:cNvSpPr/>
          <p:nvPr/>
        </p:nvSpPr>
        <p:spPr>
          <a:xfrm rot="7500000">
            <a:off x="8773668" y="4581144"/>
            <a:ext cx="163220" cy="115214"/>
          </a:xfrm>
          <a:prstGeom prst="ellipse">
            <a:avLst/>
          </a:prstGeom>
          <a:solidFill>
            <a:srgbClr val="8C96A3"/>
          </a:solidFill>
          <a:ln w="6350">
            <a:solidFill>
              <a:srgbClr val="6B7682"/>
            </a:solidFill>
            <a:prstDash val="solid"/>
          </a:ln>
        </p:spPr>
      </p:sp>
      <p:sp>
        <p:nvSpPr>
          <p:cNvPr id="21" name="Shape 19"/>
          <p:cNvSpPr/>
          <p:nvPr/>
        </p:nvSpPr>
        <p:spPr>
          <a:xfrm rot="9000000">
            <a:off x="8053578" y="3909060"/>
            <a:ext cx="163220" cy="115214"/>
          </a:xfrm>
          <a:prstGeom prst="rect">
            <a:avLst/>
          </a:prstGeom>
          <a:solidFill>
            <a:srgbClr val="C47A3A"/>
          </a:solidFill>
          <a:ln w="6350">
            <a:solidFill>
              <a:srgbClr val="6B7682"/>
            </a:solidFill>
            <a:prstDash val="solid"/>
          </a:ln>
        </p:spPr>
      </p:sp>
      <p:sp>
        <p:nvSpPr>
          <p:cNvPr id="22" name="Shape 20"/>
          <p:cNvSpPr/>
          <p:nvPr/>
        </p:nvSpPr>
        <p:spPr>
          <a:xfrm rot="10500000">
            <a:off x="8629650" y="3284982"/>
            <a:ext cx="163220" cy="115214"/>
          </a:xfrm>
          <a:prstGeom prst="ellipse">
            <a:avLst/>
          </a:prstGeom>
          <a:solidFill>
            <a:srgbClr val="8C96A3"/>
          </a:solidFill>
          <a:ln w="6350">
            <a:solidFill>
              <a:srgbClr val="6B7682"/>
            </a:solidFill>
            <a:prstDash val="solid"/>
          </a:ln>
        </p:spPr>
      </p:sp>
      <p:sp>
        <p:nvSpPr>
          <p:cNvPr id="23" name="Shape 21"/>
          <p:cNvSpPr/>
          <p:nvPr/>
        </p:nvSpPr>
        <p:spPr>
          <a:xfrm rot="12000000">
            <a:off x="8869680" y="4197096"/>
            <a:ext cx="163220" cy="115214"/>
          </a:xfrm>
          <a:prstGeom prst="ellipse">
            <a:avLst/>
          </a:prstGeom>
          <a:solidFill>
            <a:srgbClr val="C47A3A"/>
          </a:solidFill>
          <a:ln w="6350">
            <a:solidFill>
              <a:srgbClr val="6B7682"/>
            </a:solidFill>
            <a:prstDash val="solid"/>
          </a:ln>
        </p:spPr>
      </p:sp>
      <p:sp>
        <p:nvSpPr>
          <p:cNvPr id="24" name="Shape 22"/>
          <p:cNvSpPr/>
          <p:nvPr/>
        </p:nvSpPr>
        <p:spPr>
          <a:xfrm>
            <a:off x="8773668" y="2036826"/>
            <a:ext cx="576072" cy="2976372"/>
          </a:xfrm>
          <a:prstGeom prst="line">
            <a:avLst/>
          </a:prstGeom>
          <a:noFill/>
          <a:ln w="133350">
            <a:solidFill>
              <a:srgbClr val="E0702B"/>
            </a:solidFill>
            <a:prstDash val="solid"/>
          </a:ln>
        </p:spPr>
      </p:sp>
      <p:sp>
        <p:nvSpPr>
          <p:cNvPr id="25" name="Text 23"/>
          <p:cNvSpPr txBox="1"/>
          <p:nvPr/>
        </p:nvSpPr>
        <p:spPr>
          <a:xfrm>
            <a:off x="9397746" y="4389120"/>
            <a:ext cx="1824228" cy="274320"/>
          </a:xfrm>
          <a:prstGeom prst="rect">
            <a:avLst/>
          </a:prstGeom>
          <a:noFill/>
          <a:ln/>
        </p:spPr>
        <p:txBody>
          <a:bodyPr wrap="square" lIns="0" tIns="0" rIns="0" bIns="0" rtlCol="0" anchor="t"/>
          <a:lstStyle/>
          <a:p>
            <a:pPr indent="0" marL="0">
              <a:buNone/>
            </a:pPr>
            <a:r>
              <a:rPr lang="en-US" sz="1100" b="1" dirty="0">
                <a:solidFill>
                  <a:srgbClr val="E0702B"/>
                </a:solidFill>
                <a:latin typeface="Calibri" pitchFamily="34" charset="0"/>
                <a:ea typeface="Calibri" pitchFamily="34" charset="-122"/>
                <a:cs typeface="Calibri" pitchFamily="34" charset="-120"/>
              </a:rPr>
              <a:t>Existing trash boom</a:t>
            </a:r>
            <a:endParaRPr lang="en-US" sz="1100" dirty="0"/>
          </a:p>
        </p:txBody>
      </p:sp>
      <p:sp>
        <p:nvSpPr>
          <p:cNvPr id="26" name="Shape 24"/>
          <p:cNvSpPr/>
          <p:nvPr/>
        </p:nvSpPr>
        <p:spPr>
          <a:xfrm flipH="1" flipV="1">
            <a:off x="7813548" y="1748790"/>
            <a:ext cx="960120" cy="288036"/>
          </a:xfrm>
          <a:prstGeom prst="line">
            <a:avLst/>
          </a:prstGeom>
          <a:noFill/>
          <a:ln w="19050">
            <a:solidFill>
              <a:srgbClr val="0B2545"/>
            </a:solidFill>
            <a:prstDash val="solid"/>
          </a:ln>
        </p:spPr>
      </p:sp>
      <p:sp>
        <p:nvSpPr>
          <p:cNvPr id="27" name="Shape 25"/>
          <p:cNvSpPr/>
          <p:nvPr/>
        </p:nvSpPr>
        <p:spPr>
          <a:xfrm rot="1020000">
            <a:off x="8101584" y="1739189"/>
            <a:ext cx="307238" cy="192024"/>
          </a:xfrm>
          <a:prstGeom prst="rect">
            <a:avLst/>
          </a:prstGeom>
          <a:solidFill>
            <a:srgbClr val="5B4B9A"/>
          </a:solidFill>
          <a:ln w="9525">
            <a:solidFill>
              <a:srgbClr val="5B4B9A"/>
            </a:solidFill>
            <a:prstDash val="solid"/>
          </a:ln>
        </p:spPr>
      </p:sp>
      <p:sp>
        <p:nvSpPr>
          <p:cNvPr id="28" name="Shape 26"/>
          <p:cNvSpPr/>
          <p:nvPr/>
        </p:nvSpPr>
        <p:spPr>
          <a:xfrm>
            <a:off x="7698334" y="1652778"/>
            <a:ext cx="192024" cy="192024"/>
          </a:xfrm>
          <a:prstGeom prst="ellipse">
            <a:avLst/>
          </a:prstGeom>
          <a:solidFill>
            <a:srgbClr val="0B2545"/>
          </a:solidFill>
          <a:ln w="9525">
            <a:solidFill>
              <a:srgbClr val="0B2545"/>
            </a:solidFill>
            <a:prstDash val="solid"/>
          </a:ln>
        </p:spPr>
      </p:sp>
      <p:sp>
        <p:nvSpPr>
          <p:cNvPr id="29" name="Text 27"/>
          <p:cNvSpPr txBox="1"/>
          <p:nvPr/>
        </p:nvSpPr>
        <p:spPr>
          <a:xfrm>
            <a:off x="6133338" y="1105510"/>
            <a:ext cx="3264408" cy="274320"/>
          </a:xfrm>
          <a:prstGeom prst="rect">
            <a:avLst/>
          </a:prstGeom>
          <a:noFill/>
          <a:ln/>
        </p:spPr>
        <p:txBody>
          <a:bodyPr wrap="square" lIns="0" tIns="0" rIns="0" bIns="0" rtlCol="0" anchor="t"/>
          <a:lstStyle/>
          <a:p>
            <a:pPr indent="0" marL="0">
              <a:buNone/>
            </a:pPr>
            <a:r>
              <a:rPr lang="en-US" sz="1100" b="1" dirty="0">
                <a:solidFill>
                  <a:srgbClr val="5B4B9A"/>
                </a:solidFill>
                <a:latin typeface="Calibri" pitchFamily="34" charset="0"/>
                <a:ea typeface="Calibri" pitchFamily="34" charset="-122"/>
                <a:cs typeface="Calibri" pitchFamily="34" charset="-120"/>
              </a:rPr>
              <a:t>Load cell on one mooring line</a:t>
            </a:r>
            <a:endParaRPr lang="en-US" sz="1100" dirty="0"/>
          </a:p>
        </p:txBody>
      </p:sp>
      <p:sp>
        <p:nvSpPr>
          <p:cNvPr id="30" name="Shape 28"/>
          <p:cNvSpPr/>
          <p:nvPr/>
        </p:nvSpPr>
        <p:spPr>
          <a:xfrm>
            <a:off x="7525512" y="1796796"/>
            <a:ext cx="914" cy="672084"/>
          </a:xfrm>
          <a:prstGeom prst="line">
            <a:avLst/>
          </a:prstGeom>
          <a:noFill/>
          <a:ln w="25400">
            <a:solidFill>
              <a:srgbClr val="5B6B7F"/>
            </a:solidFill>
            <a:prstDash val="solid"/>
          </a:ln>
        </p:spPr>
      </p:sp>
      <p:sp>
        <p:nvSpPr>
          <p:cNvPr id="31" name="Shape 29"/>
          <p:cNvSpPr/>
          <p:nvPr/>
        </p:nvSpPr>
        <p:spPr>
          <a:xfrm>
            <a:off x="7352690" y="2372868"/>
            <a:ext cx="345643" cy="268834"/>
          </a:xfrm>
          <a:prstGeom prst="roundRect">
            <a:avLst>
              <a:gd name="adj" fmla="val 13605"/>
            </a:avLst>
          </a:prstGeom>
          <a:solidFill>
            <a:srgbClr val="0E8C99"/>
          </a:solidFill>
          <a:ln w="9525">
            <a:solidFill>
              <a:srgbClr val="0E8C99"/>
            </a:solidFill>
            <a:prstDash val="solid"/>
          </a:ln>
        </p:spPr>
      </p:sp>
      <p:sp>
        <p:nvSpPr>
          <p:cNvPr id="32" name="Text 30"/>
          <p:cNvSpPr txBox="1"/>
          <p:nvPr/>
        </p:nvSpPr>
        <p:spPr>
          <a:xfrm>
            <a:off x="7352690" y="2372868"/>
            <a:ext cx="345643" cy="26883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3" name="Shape 31"/>
          <p:cNvSpPr/>
          <p:nvPr/>
        </p:nvSpPr>
        <p:spPr>
          <a:xfrm>
            <a:off x="10597896" y="1796796"/>
            <a:ext cx="914" cy="672084"/>
          </a:xfrm>
          <a:prstGeom prst="line">
            <a:avLst/>
          </a:prstGeom>
          <a:noFill/>
          <a:ln w="25400">
            <a:solidFill>
              <a:srgbClr val="5B6B7F"/>
            </a:solidFill>
            <a:prstDash val="solid"/>
          </a:ln>
        </p:spPr>
      </p:sp>
      <p:sp>
        <p:nvSpPr>
          <p:cNvPr id="34" name="Shape 32"/>
          <p:cNvSpPr/>
          <p:nvPr/>
        </p:nvSpPr>
        <p:spPr>
          <a:xfrm>
            <a:off x="10425074" y="2372868"/>
            <a:ext cx="345643" cy="268834"/>
          </a:xfrm>
          <a:prstGeom prst="roundRect">
            <a:avLst>
              <a:gd name="adj" fmla="val 13605"/>
            </a:avLst>
          </a:prstGeom>
          <a:solidFill>
            <a:srgbClr val="0E8C99"/>
          </a:solidFill>
          <a:ln w="9525">
            <a:solidFill>
              <a:srgbClr val="0E8C99"/>
            </a:solidFill>
            <a:prstDash val="solid"/>
          </a:ln>
        </p:spPr>
      </p:sp>
      <p:sp>
        <p:nvSpPr>
          <p:cNvPr id="35" name="Text 33"/>
          <p:cNvSpPr txBox="1"/>
          <p:nvPr/>
        </p:nvSpPr>
        <p:spPr>
          <a:xfrm>
            <a:off x="10425074" y="2372868"/>
            <a:ext cx="345643" cy="26883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36" name="Text 34"/>
          <p:cNvSpPr txBox="1"/>
          <p:nvPr/>
        </p:nvSpPr>
        <p:spPr>
          <a:xfrm>
            <a:off x="6853428" y="2708910"/>
            <a:ext cx="1920240" cy="274320"/>
          </a:xfrm>
          <a:prstGeom prst="rect">
            <a:avLst/>
          </a:prstGeom>
          <a:noFill/>
          <a:ln/>
        </p:spPr>
        <p:txBody>
          <a:bodyPr wrap="square" lIns="0" tIns="0" rIns="0" bIns="0" rtlCol="0" anchor="t"/>
          <a:lstStyle/>
          <a:p>
            <a:pPr indent="0" marL="0">
              <a:buNone/>
            </a:pPr>
            <a:r>
              <a:rPr lang="en-US" sz="1100" b="1" dirty="0">
                <a:solidFill>
                  <a:srgbClr val="0B2545"/>
                </a:solidFill>
                <a:latin typeface="Calibri" pitchFamily="34" charset="0"/>
                <a:ea typeface="Calibri" pitchFamily="34" charset="-122"/>
                <a:cs typeface="Calibri" pitchFamily="34" charset="-120"/>
              </a:rPr>
              <a:t>Level A (upstream)</a:t>
            </a:r>
            <a:endParaRPr lang="en-US" sz="1100" dirty="0"/>
          </a:p>
        </p:txBody>
      </p:sp>
      <p:sp>
        <p:nvSpPr>
          <p:cNvPr id="37" name="Text 35"/>
          <p:cNvSpPr txBox="1"/>
          <p:nvPr/>
        </p:nvSpPr>
        <p:spPr>
          <a:xfrm>
            <a:off x="9829800" y="2708910"/>
            <a:ext cx="1920240" cy="274320"/>
          </a:xfrm>
          <a:prstGeom prst="rect">
            <a:avLst/>
          </a:prstGeom>
          <a:noFill/>
          <a:ln/>
        </p:spPr>
        <p:txBody>
          <a:bodyPr wrap="square" lIns="0" tIns="0" rIns="0" bIns="0" rtlCol="0" anchor="t"/>
          <a:lstStyle/>
          <a:p>
            <a:pPr indent="0" marL="0">
              <a:buNone/>
            </a:pPr>
            <a:r>
              <a:rPr lang="en-US" sz="1100" b="1" dirty="0">
                <a:solidFill>
                  <a:srgbClr val="0B2545"/>
                </a:solidFill>
                <a:latin typeface="Calibri" pitchFamily="34" charset="0"/>
                <a:ea typeface="Calibri" pitchFamily="34" charset="-122"/>
                <a:cs typeface="Calibri" pitchFamily="34" charset="-120"/>
              </a:rPr>
              <a:t>Level B (downstream)</a:t>
            </a:r>
            <a:endParaRPr lang="en-US" sz="1100" dirty="0"/>
          </a:p>
        </p:txBody>
      </p:sp>
      <p:sp>
        <p:nvSpPr>
          <p:cNvPr id="38" name="Shape 36"/>
          <p:cNvSpPr/>
          <p:nvPr/>
        </p:nvSpPr>
        <p:spPr>
          <a:xfrm>
            <a:off x="10213848" y="5109210"/>
            <a:ext cx="1344168" cy="364846"/>
          </a:xfrm>
          <a:prstGeom prst="roundRect">
            <a:avLst>
              <a:gd name="adj" fmla="val 10025"/>
            </a:avLst>
          </a:prstGeom>
          <a:solidFill>
            <a:srgbClr val="0B2545"/>
          </a:solidFill>
          <a:ln w="9525">
            <a:solidFill>
              <a:srgbClr val="0B2545"/>
            </a:solidFill>
            <a:prstDash val="solid"/>
          </a:ln>
        </p:spPr>
      </p:sp>
      <p:sp>
        <p:nvSpPr>
          <p:cNvPr id="39" name="Text 37"/>
          <p:cNvSpPr txBox="1"/>
          <p:nvPr/>
        </p:nvSpPr>
        <p:spPr>
          <a:xfrm>
            <a:off x="10213848" y="5109210"/>
            <a:ext cx="1344168" cy="36484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ESP32 node</a:t>
            </a:r>
            <a:endParaRPr lang="en-US" sz="1000" dirty="0"/>
          </a:p>
        </p:txBody>
      </p:sp>
      <p:sp>
        <p:nvSpPr>
          <p:cNvPr id="40" name="Shape 38"/>
          <p:cNvSpPr/>
          <p:nvPr/>
        </p:nvSpPr>
        <p:spPr>
          <a:xfrm>
            <a:off x="5852160" y="5760720"/>
            <a:ext cx="5943600" cy="457200"/>
          </a:xfrm>
          <a:prstGeom prst="roundRect">
            <a:avLst>
              <a:gd name="adj" fmla="val 10000"/>
            </a:avLst>
          </a:prstGeom>
          <a:solidFill>
            <a:srgbClr val="FCEBDD"/>
          </a:solidFill>
          <a:ln w="9525">
            <a:solidFill>
              <a:srgbClr val="FCEBDD"/>
            </a:solidFill>
            <a:prstDash val="solid"/>
          </a:ln>
        </p:spPr>
      </p:sp>
      <p:sp>
        <p:nvSpPr>
          <p:cNvPr id="41" name="Text 39"/>
          <p:cNvSpPr txBox="1"/>
          <p:nvPr/>
        </p:nvSpPr>
        <p:spPr>
          <a:xfrm>
            <a:off x="5989320" y="5760720"/>
            <a:ext cx="5760720" cy="457200"/>
          </a:xfrm>
          <a:prstGeom prst="rect">
            <a:avLst/>
          </a:prstGeom>
          <a:noFill/>
          <a:ln/>
        </p:spPr>
        <p:txBody>
          <a:bodyPr wrap="square" lIns="0" tIns="0" rIns="0" bIns="0" rtlCol="0" anchor="ctr"/>
          <a:lstStyle/>
          <a:p>
            <a:pPr indent="0" marL="0">
              <a:buNone/>
            </a:pPr>
            <a:r>
              <a:rPr lang="en-US" sz="1200" b="1" dirty="0">
                <a:solidFill>
                  <a:srgbClr val="8A3B0F"/>
                </a:solidFill>
                <a:latin typeface="Calibri" pitchFamily="34" charset="0"/>
                <a:ea typeface="Calibri" pitchFamily="34" charset="-122"/>
                <a:cs typeface="Calibri" pitchFamily="34" charset="-120"/>
              </a:rPr>
              <a:t>Conceptual illustration only. Not an installed system, not a surveyed site, not to scale.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Booms catch drain plastic, but no one sees them between visits</a:t>
            </a:r>
            <a:endParaRPr lang="en-US" sz="2800" dirty="0"/>
          </a:p>
        </p:txBody>
      </p:sp>
      <p:sp>
        <p:nvSpPr>
          <p:cNvPr id="4" name="Shape 2"/>
          <p:cNvSpPr/>
          <p:nvPr/>
        </p:nvSpPr>
        <p:spPr>
          <a:xfrm>
            <a:off x="457200" y="1508760"/>
            <a:ext cx="2011680" cy="1051560"/>
          </a:xfrm>
          <a:prstGeom prst="roundRect">
            <a:avLst>
              <a:gd name="adj" fmla="val 6957"/>
            </a:avLst>
          </a:prstGeom>
          <a:solidFill>
            <a:srgbClr val="F3F6F9"/>
          </a:solidFill>
          <a:ln w="9525">
            <a:solidFill>
              <a:srgbClr val="C9D3DD"/>
            </a:solidFill>
            <a:prstDash val="solid"/>
          </a:ln>
        </p:spPr>
      </p:sp>
      <p:sp>
        <p:nvSpPr>
          <p:cNvPr id="5" name="Text 3"/>
          <p:cNvSpPr txBox="1"/>
          <p:nvPr/>
        </p:nvSpPr>
        <p:spPr>
          <a:xfrm>
            <a:off x="566928" y="1618488"/>
            <a:ext cx="1792224" cy="4572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Streets &amp; homes</a:t>
            </a:r>
            <a:endParaRPr lang="en-US" sz="1500" dirty="0"/>
          </a:p>
        </p:txBody>
      </p:sp>
      <p:sp>
        <p:nvSpPr>
          <p:cNvPr id="6" name="Text 4"/>
          <p:cNvSpPr txBox="1"/>
          <p:nvPr/>
        </p:nvSpPr>
        <p:spPr>
          <a:xfrm>
            <a:off x="566928" y="2103120"/>
            <a:ext cx="1792224"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Bottles, wrappers, film</a:t>
            </a:r>
            <a:endParaRPr lang="en-US" sz="1200" dirty="0"/>
          </a:p>
        </p:txBody>
      </p:sp>
      <p:sp>
        <p:nvSpPr>
          <p:cNvPr id="7" name="Shape 5"/>
          <p:cNvSpPr/>
          <p:nvPr/>
        </p:nvSpPr>
        <p:spPr>
          <a:xfrm>
            <a:off x="2487168" y="2039112"/>
            <a:ext cx="237744" cy="914"/>
          </a:xfrm>
          <a:prstGeom prst="line">
            <a:avLst/>
          </a:prstGeom>
          <a:noFill/>
          <a:ln w="25400">
            <a:solidFill>
              <a:srgbClr val="0E8C99"/>
            </a:solidFill>
            <a:prstDash val="solid"/>
            <a:tailEnd type="triangle"/>
          </a:ln>
        </p:spPr>
      </p:sp>
      <p:sp>
        <p:nvSpPr>
          <p:cNvPr id="8" name="Shape 6"/>
          <p:cNvSpPr/>
          <p:nvPr/>
        </p:nvSpPr>
        <p:spPr>
          <a:xfrm>
            <a:off x="2743200" y="1508760"/>
            <a:ext cx="2011680" cy="1051560"/>
          </a:xfrm>
          <a:prstGeom prst="roundRect">
            <a:avLst>
              <a:gd name="adj" fmla="val 6957"/>
            </a:avLst>
          </a:prstGeom>
          <a:solidFill>
            <a:srgbClr val="F3F6F9"/>
          </a:solidFill>
          <a:ln w="9525">
            <a:solidFill>
              <a:srgbClr val="C9D3DD"/>
            </a:solidFill>
            <a:prstDash val="solid"/>
          </a:ln>
        </p:spPr>
      </p:sp>
      <p:sp>
        <p:nvSpPr>
          <p:cNvPr id="9" name="Text 7"/>
          <p:cNvSpPr txBox="1"/>
          <p:nvPr/>
        </p:nvSpPr>
        <p:spPr>
          <a:xfrm>
            <a:off x="2852928" y="1618488"/>
            <a:ext cx="1792224" cy="4572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Stormwater drain / nullah</a:t>
            </a:r>
            <a:endParaRPr lang="en-US" sz="1500" dirty="0"/>
          </a:p>
        </p:txBody>
      </p:sp>
      <p:sp>
        <p:nvSpPr>
          <p:cNvPr id="10" name="Text 8"/>
          <p:cNvSpPr txBox="1"/>
          <p:nvPr/>
        </p:nvSpPr>
        <p:spPr>
          <a:xfrm>
            <a:off x="2852928" y="2103120"/>
            <a:ext cx="1792224"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Monsoon runoff carries it</a:t>
            </a:r>
            <a:endParaRPr lang="en-US" sz="1200" dirty="0"/>
          </a:p>
        </p:txBody>
      </p:sp>
      <p:sp>
        <p:nvSpPr>
          <p:cNvPr id="11" name="Shape 9"/>
          <p:cNvSpPr/>
          <p:nvPr/>
        </p:nvSpPr>
        <p:spPr>
          <a:xfrm>
            <a:off x="4773168" y="2039112"/>
            <a:ext cx="237744" cy="914"/>
          </a:xfrm>
          <a:prstGeom prst="line">
            <a:avLst/>
          </a:prstGeom>
          <a:noFill/>
          <a:ln w="25400">
            <a:solidFill>
              <a:srgbClr val="0E8C99"/>
            </a:solidFill>
            <a:prstDash val="solid"/>
            <a:tailEnd type="triangle"/>
          </a:ln>
        </p:spPr>
      </p:sp>
      <p:sp>
        <p:nvSpPr>
          <p:cNvPr id="12" name="Shape 10"/>
          <p:cNvSpPr/>
          <p:nvPr/>
        </p:nvSpPr>
        <p:spPr>
          <a:xfrm>
            <a:off x="5029200" y="1508760"/>
            <a:ext cx="2011680" cy="1051560"/>
          </a:xfrm>
          <a:prstGeom prst="roundRect">
            <a:avLst>
              <a:gd name="adj" fmla="val 6957"/>
            </a:avLst>
          </a:prstGeom>
          <a:solidFill>
            <a:srgbClr val="E0702B"/>
          </a:solidFill>
          <a:ln w="9525">
            <a:solidFill>
              <a:srgbClr val="E0702B"/>
            </a:solidFill>
            <a:prstDash val="solid"/>
          </a:ln>
        </p:spPr>
      </p:sp>
      <p:sp>
        <p:nvSpPr>
          <p:cNvPr id="13" name="Text 11"/>
          <p:cNvSpPr txBox="1"/>
          <p:nvPr/>
        </p:nvSpPr>
        <p:spPr>
          <a:xfrm>
            <a:off x="5138928" y="1618488"/>
            <a:ext cx="179222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Trash boom at outfall</a:t>
            </a:r>
            <a:endParaRPr lang="en-US" sz="1500" dirty="0"/>
          </a:p>
        </p:txBody>
      </p:sp>
      <p:sp>
        <p:nvSpPr>
          <p:cNvPr id="14" name="Text 12"/>
          <p:cNvSpPr txBox="1"/>
          <p:nvPr/>
        </p:nvSpPr>
        <p:spPr>
          <a:xfrm>
            <a:off x="5138928" y="2103120"/>
            <a:ext cx="1792224"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Intercepts floating litter</a:t>
            </a:r>
            <a:endParaRPr lang="en-US" sz="1200" dirty="0"/>
          </a:p>
        </p:txBody>
      </p:sp>
      <p:sp>
        <p:nvSpPr>
          <p:cNvPr id="15" name="Shape 13"/>
          <p:cNvSpPr/>
          <p:nvPr/>
        </p:nvSpPr>
        <p:spPr>
          <a:xfrm>
            <a:off x="7059168" y="2039112"/>
            <a:ext cx="237744" cy="914"/>
          </a:xfrm>
          <a:prstGeom prst="line">
            <a:avLst/>
          </a:prstGeom>
          <a:noFill/>
          <a:ln w="25400">
            <a:solidFill>
              <a:srgbClr val="0E8C99"/>
            </a:solidFill>
            <a:prstDash val="solid"/>
            <a:tailEnd type="triangle"/>
          </a:ln>
        </p:spPr>
      </p:sp>
      <p:sp>
        <p:nvSpPr>
          <p:cNvPr id="16" name="Shape 14"/>
          <p:cNvSpPr/>
          <p:nvPr/>
        </p:nvSpPr>
        <p:spPr>
          <a:xfrm>
            <a:off x="7315200" y="1508760"/>
            <a:ext cx="2011680" cy="1051560"/>
          </a:xfrm>
          <a:prstGeom prst="roundRect">
            <a:avLst>
              <a:gd name="adj" fmla="val 6957"/>
            </a:avLst>
          </a:prstGeom>
          <a:solidFill>
            <a:srgbClr val="E3F4F5"/>
          </a:solidFill>
          <a:ln w="9525">
            <a:solidFill>
              <a:srgbClr val="C9D3DD"/>
            </a:solidFill>
            <a:prstDash val="solid"/>
          </a:ln>
        </p:spPr>
      </p:sp>
      <p:sp>
        <p:nvSpPr>
          <p:cNvPr id="17" name="Text 15"/>
          <p:cNvSpPr txBox="1"/>
          <p:nvPr/>
        </p:nvSpPr>
        <p:spPr>
          <a:xfrm>
            <a:off x="7424928" y="1618488"/>
            <a:ext cx="1792224" cy="4572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Creek &amp; mangroves</a:t>
            </a:r>
            <a:endParaRPr lang="en-US" sz="1500" dirty="0"/>
          </a:p>
        </p:txBody>
      </p:sp>
      <p:sp>
        <p:nvSpPr>
          <p:cNvPr id="18" name="Text 16"/>
          <p:cNvSpPr txBox="1"/>
          <p:nvPr/>
        </p:nvSpPr>
        <p:spPr>
          <a:xfrm>
            <a:off x="7424928" y="2103120"/>
            <a:ext cx="1792224"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Malad, Mithi, Dahisar…</a:t>
            </a:r>
            <a:endParaRPr lang="en-US" sz="1200" dirty="0"/>
          </a:p>
        </p:txBody>
      </p:sp>
      <p:sp>
        <p:nvSpPr>
          <p:cNvPr id="19" name="Shape 17"/>
          <p:cNvSpPr/>
          <p:nvPr/>
        </p:nvSpPr>
        <p:spPr>
          <a:xfrm>
            <a:off x="9345168" y="2039112"/>
            <a:ext cx="237744" cy="914"/>
          </a:xfrm>
          <a:prstGeom prst="line">
            <a:avLst/>
          </a:prstGeom>
          <a:noFill/>
          <a:ln w="25400">
            <a:solidFill>
              <a:srgbClr val="0E8C99"/>
            </a:solidFill>
            <a:prstDash val="solid"/>
            <a:tailEnd type="triangle"/>
          </a:ln>
        </p:spPr>
      </p:sp>
      <p:sp>
        <p:nvSpPr>
          <p:cNvPr id="20" name="Shape 18"/>
          <p:cNvSpPr/>
          <p:nvPr/>
        </p:nvSpPr>
        <p:spPr>
          <a:xfrm>
            <a:off x="9601200" y="1508760"/>
            <a:ext cx="2011680" cy="1051560"/>
          </a:xfrm>
          <a:prstGeom prst="roundRect">
            <a:avLst>
              <a:gd name="adj" fmla="val 6957"/>
            </a:avLst>
          </a:prstGeom>
          <a:solidFill>
            <a:srgbClr val="E3F4F5"/>
          </a:solidFill>
          <a:ln w="9525">
            <a:solidFill>
              <a:srgbClr val="C9D3DD"/>
            </a:solidFill>
            <a:prstDash val="solid"/>
          </a:ln>
        </p:spPr>
      </p:sp>
      <p:sp>
        <p:nvSpPr>
          <p:cNvPr id="21" name="Text 19"/>
          <p:cNvSpPr txBox="1"/>
          <p:nvPr/>
        </p:nvSpPr>
        <p:spPr>
          <a:xfrm>
            <a:off x="9710928" y="1618488"/>
            <a:ext cx="1792224" cy="45720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Arabian Sea</a:t>
            </a:r>
            <a:endParaRPr lang="en-US" sz="1500" dirty="0"/>
          </a:p>
        </p:txBody>
      </p:sp>
      <p:sp>
        <p:nvSpPr>
          <p:cNvPr id="22" name="Text 20"/>
          <p:cNvSpPr txBox="1"/>
          <p:nvPr/>
        </p:nvSpPr>
        <p:spPr>
          <a:xfrm>
            <a:off x="9710928" y="2103120"/>
            <a:ext cx="1792224" cy="365760"/>
          </a:xfrm>
          <a:prstGeom prst="rect">
            <a:avLst/>
          </a:prstGeom>
          <a:noFill/>
          <a:ln/>
        </p:spPr>
        <p:txBody>
          <a:bodyPr wrap="square" lIns="0" tIns="0" rIns="0" bIns="0" rtlCol="0" anchor="t"/>
          <a:lstStyle/>
          <a:p>
            <a:pPr indent="0" marL="0">
              <a:buNone/>
            </a:pPr>
            <a:r>
              <a:rPr lang="en-US" sz="1200" dirty="0">
                <a:solidFill>
                  <a:srgbClr val="5B6B7F"/>
                </a:solidFill>
                <a:latin typeface="Calibri" pitchFamily="34" charset="0"/>
                <a:ea typeface="Calibri" pitchFamily="34" charset="-122"/>
                <a:cs typeface="Calibri" pitchFamily="34" charset="-120"/>
              </a:rPr>
              <a:t>Marine debris</a:t>
            </a:r>
            <a:endParaRPr lang="en-US" sz="1200" dirty="0"/>
          </a:p>
        </p:txBody>
      </p:sp>
      <p:sp>
        <p:nvSpPr>
          <p:cNvPr id="23" name="Shape 21"/>
          <p:cNvSpPr/>
          <p:nvPr/>
        </p:nvSpPr>
        <p:spPr>
          <a:xfrm>
            <a:off x="5577840" y="2578608"/>
            <a:ext cx="914" cy="347472"/>
          </a:xfrm>
          <a:prstGeom prst="line">
            <a:avLst/>
          </a:prstGeom>
          <a:noFill/>
          <a:ln w="19050">
            <a:solidFill>
              <a:srgbClr val="E0702B"/>
            </a:solidFill>
            <a:prstDash val="solid"/>
          </a:ln>
        </p:spPr>
      </p:sp>
      <p:sp>
        <p:nvSpPr>
          <p:cNvPr id="24" name="Shape 22"/>
          <p:cNvSpPr/>
          <p:nvPr/>
        </p:nvSpPr>
        <p:spPr>
          <a:xfrm>
            <a:off x="3017520" y="2926080"/>
            <a:ext cx="5120640" cy="914400"/>
          </a:xfrm>
          <a:prstGeom prst="roundRect">
            <a:avLst>
              <a:gd name="adj" fmla="val 8000"/>
            </a:avLst>
          </a:prstGeom>
          <a:solidFill>
            <a:srgbClr val="FCEBDD"/>
          </a:solidFill>
          <a:ln w="9525">
            <a:solidFill>
              <a:srgbClr val="E0702B"/>
            </a:solidFill>
            <a:prstDash val="solid"/>
          </a:ln>
        </p:spPr>
      </p:sp>
      <p:sp>
        <p:nvSpPr>
          <p:cNvPr id="25" name="Text 23"/>
          <p:cNvSpPr txBox="1"/>
          <p:nvPr/>
        </p:nvSpPr>
        <p:spPr>
          <a:xfrm>
            <a:off x="3200400" y="2999232"/>
            <a:ext cx="4800600" cy="777240"/>
          </a:xfrm>
          <a:prstGeom prst="rect">
            <a:avLst/>
          </a:prstGeom>
          <a:noFill/>
          <a:ln/>
        </p:spPr>
        <p:txBody>
          <a:bodyPr wrap="square" lIns="0" tIns="0" rIns="0" bIns="0" rtlCol="0" anchor="ctr"/>
          <a:lstStyle/>
          <a:p>
            <a:pPr indent="0" marL="0">
              <a:buNone/>
            </a:pPr>
            <a:r>
              <a:rPr lang="en-US" sz="1400" b="1" dirty="0">
                <a:solidFill>
                  <a:srgbClr val="8A3B0F"/>
                </a:solidFill>
                <a:latin typeface="Calibri" pitchFamily="34" charset="0"/>
                <a:ea typeface="Calibri" pitchFamily="34" charset="-122"/>
                <a:cs typeface="Calibri" pitchFamily="34" charset="-120"/>
              </a:rPr>
              <a:t>The gap StarDust targets: </a:t>
            </a:r>
            <a:pPr indent="0" marL="0">
              <a:buNone/>
            </a:pPr>
            <a:r>
              <a:rPr lang="en-US" sz="1400" dirty="0">
                <a:solidFill>
                  <a:srgbClr val="1F2D3D"/>
                </a:solidFill>
                <a:latin typeface="Calibri" pitchFamily="34" charset="0"/>
                <a:ea typeface="Calibri" pitchFamily="34" charset="-122"/>
                <a:cs typeface="Calibri" pitchFamily="34" charset="-120"/>
              </a:rPr>
              <a:t>an overloaded or bypassed boom looks the same as a working one from the office. Crews visit on a schedule — sometimes too early, sometimes too late.</a:t>
            </a:r>
            <a:endParaRPr lang="en-US" sz="1400" dirty="0"/>
          </a:p>
        </p:txBody>
      </p:sp>
      <p:sp>
        <p:nvSpPr>
          <p:cNvPr id="26" name="Shape 24"/>
          <p:cNvSpPr/>
          <p:nvPr/>
        </p:nvSpPr>
        <p:spPr>
          <a:xfrm>
            <a:off x="457200" y="4069080"/>
            <a:ext cx="3611880" cy="1965960"/>
          </a:xfrm>
          <a:prstGeom prst="roundRect">
            <a:avLst>
              <a:gd name="adj" fmla="val 3721"/>
            </a:avLst>
          </a:prstGeom>
          <a:solidFill>
            <a:srgbClr val="F3F6F9"/>
          </a:solidFill>
          <a:ln w="9525">
            <a:solidFill>
              <a:srgbClr val="F3F6F9"/>
            </a:solidFill>
            <a:prstDash val="solid"/>
          </a:ln>
        </p:spPr>
      </p:sp>
      <p:sp>
        <p:nvSpPr>
          <p:cNvPr id="27" name="Text 25"/>
          <p:cNvSpPr txBox="1"/>
          <p:nvPr/>
        </p:nvSpPr>
        <p:spPr>
          <a:xfrm>
            <a:off x="640080" y="4160520"/>
            <a:ext cx="3291840" cy="548640"/>
          </a:xfrm>
          <a:prstGeom prst="rect">
            <a:avLst/>
          </a:prstGeom>
          <a:noFill/>
          <a:ln/>
        </p:spPr>
        <p:txBody>
          <a:bodyPr wrap="square" lIns="0" tIns="0" rIns="0" bIns="0" rtlCol="0" anchor="t"/>
          <a:lstStyle/>
          <a:p>
            <a:pPr indent="0" marL="0">
              <a:buNone/>
            </a:pPr>
            <a:r>
              <a:rPr lang="en-US" sz="2600" b="1" dirty="0">
                <a:solidFill>
                  <a:srgbClr val="0E8C99"/>
                </a:solidFill>
                <a:latin typeface="Calibri" pitchFamily="34" charset="0"/>
                <a:ea typeface="Calibri" pitchFamily="34" charset="-122"/>
                <a:cs typeface="Calibri" pitchFamily="34" charset="-120"/>
              </a:rPr>
              <a:t>≈ 5,000 t / yr</a:t>
            </a:r>
            <a:endParaRPr lang="en-US" sz="2600" dirty="0"/>
          </a:p>
        </p:txBody>
      </p:sp>
      <p:sp>
        <p:nvSpPr>
          <p:cNvPr id="28" name="Text 26"/>
          <p:cNvSpPr txBox="1"/>
          <p:nvPr/>
        </p:nvSpPr>
        <p:spPr>
          <a:xfrm>
            <a:off x="640080" y="4709160"/>
            <a:ext cx="3291840" cy="82296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plastic estimated to flow from Mumbai's waterways and nullahs to the Arabian Sea</a:t>
            </a:r>
            <a:endParaRPr lang="en-US" sz="1300" dirty="0"/>
          </a:p>
        </p:txBody>
      </p:sp>
      <p:sp>
        <p:nvSpPr>
          <p:cNvPr id="29" name="Text 27"/>
          <p:cNvSpPr txBox="1"/>
          <p:nvPr/>
        </p:nvSpPr>
        <p:spPr>
          <a:xfrm>
            <a:off x="640080" y="5577840"/>
            <a:ext cx="3291840" cy="41148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InnovateX Theme 3 brief (survey estimate quoted by organisers)</a:t>
            </a:r>
            <a:endParaRPr lang="en-US" sz="1000" dirty="0"/>
          </a:p>
        </p:txBody>
      </p:sp>
      <p:sp>
        <p:nvSpPr>
          <p:cNvPr id="30" name="Shape 28"/>
          <p:cNvSpPr/>
          <p:nvPr/>
        </p:nvSpPr>
        <p:spPr>
          <a:xfrm>
            <a:off x="4251960" y="4069080"/>
            <a:ext cx="3611880" cy="1965960"/>
          </a:xfrm>
          <a:prstGeom prst="roundRect">
            <a:avLst>
              <a:gd name="adj" fmla="val 3721"/>
            </a:avLst>
          </a:prstGeom>
          <a:solidFill>
            <a:srgbClr val="F3F6F9"/>
          </a:solidFill>
          <a:ln w="9525">
            <a:solidFill>
              <a:srgbClr val="F3F6F9"/>
            </a:solidFill>
            <a:prstDash val="solid"/>
          </a:ln>
        </p:spPr>
      </p:sp>
      <p:sp>
        <p:nvSpPr>
          <p:cNvPr id="31" name="Text 29"/>
          <p:cNvSpPr txBox="1"/>
          <p:nvPr/>
        </p:nvSpPr>
        <p:spPr>
          <a:xfrm>
            <a:off x="4434840" y="4160520"/>
            <a:ext cx="3291840" cy="548640"/>
          </a:xfrm>
          <a:prstGeom prst="rect">
            <a:avLst/>
          </a:prstGeom>
          <a:noFill/>
          <a:ln/>
        </p:spPr>
        <p:txBody>
          <a:bodyPr wrap="square" lIns="0" tIns="0" rIns="0" bIns="0" rtlCol="0" anchor="t"/>
          <a:lstStyle/>
          <a:p>
            <a:pPr indent="0" marL="0">
              <a:buNone/>
            </a:pPr>
            <a:r>
              <a:rPr lang="en-US" sz="2600" b="1" dirty="0">
                <a:solidFill>
                  <a:srgbClr val="0E8C99"/>
                </a:solidFill>
                <a:latin typeface="Calibri" pitchFamily="34" charset="0"/>
                <a:ea typeface="Calibri" pitchFamily="34" charset="-122"/>
                <a:cs typeface="Calibri" pitchFamily="34" charset="-120"/>
              </a:rPr>
              <a:t>₹14.5 crore</a:t>
            </a:r>
            <a:endParaRPr lang="en-US" sz="2600" dirty="0"/>
          </a:p>
        </p:txBody>
      </p:sp>
      <p:sp>
        <p:nvSpPr>
          <p:cNvPr id="32" name="Text 30"/>
          <p:cNvSpPr txBox="1"/>
          <p:nvPr/>
        </p:nvSpPr>
        <p:spPr>
          <a:xfrm>
            <a:off x="4434840" y="4709160"/>
            <a:ext cx="3291840" cy="82296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2-year BMC contract (Jul 2026) to operate &amp; maintain trash booms on six rivers/nullahs in the western suburbs</a:t>
            </a:r>
            <a:endParaRPr lang="en-US" sz="1300" dirty="0"/>
          </a:p>
        </p:txBody>
      </p:sp>
      <p:sp>
        <p:nvSpPr>
          <p:cNvPr id="33" name="Text 31"/>
          <p:cNvSpPr txBox="1"/>
          <p:nvPr/>
        </p:nvSpPr>
        <p:spPr>
          <a:xfrm>
            <a:off x="4434840" y="5577840"/>
            <a:ext cx="3291840" cy="41148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Free Press Journal, 30 Jul 2026; booms commissioned Jul 2022 after NGT directions</a:t>
            </a:r>
            <a:endParaRPr lang="en-US" sz="1000" dirty="0"/>
          </a:p>
        </p:txBody>
      </p:sp>
      <p:sp>
        <p:nvSpPr>
          <p:cNvPr id="34" name="Shape 32"/>
          <p:cNvSpPr/>
          <p:nvPr/>
        </p:nvSpPr>
        <p:spPr>
          <a:xfrm>
            <a:off x="8046720" y="4069080"/>
            <a:ext cx="3611880" cy="1965960"/>
          </a:xfrm>
          <a:prstGeom prst="roundRect">
            <a:avLst>
              <a:gd name="adj" fmla="val 3721"/>
            </a:avLst>
          </a:prstGeom>
          <a:solidFill>
            <a:srgbClr val="F3F6F9"/>
          </a:solidFill>
          <a:ln w="9525">
            <a:solidFill>
              <a:srgbClr val="F3F6F9"/>
            </a:solidFill>
            <a:prstDash val="solid"/>
          </a:ln>
        </p:spPr>
      </p:sp>
      <p:sp>
        <p:nvSpPr>
          <p:cNvPr id="35" name="Text 33"/>
          <p:cNvSpPr txBox="1"/>
          <p:nvPr/>
        </p:nvSpPr>
        <p:spPr>
          <a:xfrm>
            <a:off x="8229600" y="4160520"/>
            <a:ext cx="3291840" cy="548640"/>
          </a:xfrm>
          <a:prstGeom prst="rect">
            <a:avLst/>
          </a:prstGeom>
          <a:noFill/>
          <a:ln/>
        </p:spPr>
        <p:txBody>
          <a:bodyPr wrap="square" lIns="0" tIns="0" rIns="0" bIns="0" rtlCol="0" anchor="t"/>
          <a:lstStyle/>
          <a:p>
            <a:pPr indent="0" marL="0">
              <a:buNone/>
            </a:pPr>
            <a:r>
              <a:rPr lang="en-US" sz="2600" b="1" dirty="0">
                <a:solidFill>
                  <a:srgbClr val="E0702B"/>
                </a:solidFill>
                <a:latin typeface="Calibri" pitchFamily="34" charset="0"/>
                <a:ea typeface="Calibri" pitchFamily="34" charset="-122"/>
                <a:cs typeface="Calibri" pitchFamily="34" charset="-120"/>
              </a:rPr>
              <a:t>Visits misdirected</a:t>
            </a:r>
            <a:endParaRPr lang="en-US" sz="2600" dirty="0"/>
          </a:p>
        </p:txBody>
      </p:sp>
      <p:sp>
        <p:nvSpPr>
          <p:cNvPr id="36" name="Text 34"/>
          <p:cNvSpPr txBox="1"/>
          <p:nvPr/>
        </p:nvSpPr>
        <p:spPr>
          <a:xfrm>
            <a:off x="8229600" y="4709160"/>
            <a:ext cx="3291840" cy="822960"/>
          </a:xfrm>
          <a:prstGeom prst="rect">
            <a:avLst/>
          </a:prstGeom>
          <a:noFill/>
          <a:ln/>
        </p:spPr>
        <p:txBody>
          <a:bodyPr wrap="square" lIns="0" tIns="0" rIns="0" bIns="0" rtlCol="0" anchor="t"/>
          <a:lstStyle/>
          <a:p>
            <a:pPr indent="0" marL="0">
              <a:buNone/>
            </a:pPr>
            <a:r>
              <a:rPr lang="en-US" sz="1300" dirty="0">
                <a:solidFill>
                  <a:srgbClr val="1F2D3D"/>
                </a:solidFill>
                <a:latin typeface="Calibri" pitchFamily="34" charset="0"/>
                <a:ea typeface="Calibri" pitchFamily="34" charset="-122"/>
                <a:cs typeface="Calibri" pitchFamily="34" charset="-120"/>
              </a:rPr>
              <a:t>Industry note: scheduled screen cleaning often visits clear screens and misses blocked ones; uncleared screens add flood risk</a:t>
            </a:r>
            <a:endParaRPr lang="en-US" sz="1300" dirty="0"/>
          </a:p>
        </p:txBody>
      </p:sp>
      <p:sp>
        <p:nvSpPr>
          <p:cNvPr id="37" name="Text 35"/>
          <p:cNvSpPr txBox="1"/>
          <p:nvPr/>
        </p:nvSpPr>
        <p:spPr>
          <a:xfrm>
            <a:off x="8229600" y="5577840"/>
            <a:ext cx="3291840" cy="41148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Aquasition, trash-screen monitoring (2019)</a:t>
            </a:r>
            <a:endParaRPr lang="en-US" sz="1000" dirty="0"/>
          </a:p>
        </p:txBody>
      </p:sp>
      <p:sp>
        <p:nvSpPr>
          <p:cNvPr id="38" name="Text 36"/>
          <p:cNvSpPr txBox="1"/>
          <p:nvPr/>
        </p:nvSpPr>
        <p:spPr>
          <a:xfrm>
            <a:off x="457200" y="6144768"/>
            <a:ext cx="1124712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Users: drainage engineer (reviews evidence) · clearance crew (inspects, clears) · asset owner / O&amp;M contractor (pays for visits). Candidate area: Malad Creek catchment — outlet, barrier presence and permissions NOT yet surveyed.</a:t>
            </a:r>
            <a:endParaRPr lang="en-US" sz="10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EXISTING SOLUTIONS</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The sensors exist. Does combining them make better decisions?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2514600"/>
                <a:gridCol w="2194560"/>
                <a:gridCol w="2331720"/>
                <a:gridCol w="4206240"/>
              </a:tblGrid>
              <a:tr h="457200">
                <a:tc>
                  <a:txBody>
                    <a:bodyPr/>
                    <a:lstStyle/>
                    <a:p>
                      <a:pPr indent="0" marL="0">
                        <a:buNone/>
                      </a:pPr>
                      <a:r>
                        <a:rPr lang="en-US" sz="1300" b="1" dirty="0">
                          <a:solidFill>
                            <a:srgbClr val="FFFFFF"/>
                          </a:solidFill>
                        </a:rPr>
                        <a:t>Method</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rPr>
                        <a:t>What it observes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rPr>
                        <a:t>Already used?</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300" b="1" dirty="0">
                          <a:solidFill>
                            <a:srgbClr val="FFFFFF"/>
                          </a:solidFill>
                        </a:rPr>
                        <a:t>Where it falls short for drain booms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r>
              <a:tr h="457200">
                <a:tc>
                  <a:txBody>
                    <a:bodyPr/>
                    <a:lstStyle/>
                    <a:p>
                      <a:pPr indent="0" marL="0">
                        <a:buNone/>
                      </a:pPr>
                      <a:r>
                        <a:rPr lang="en-US" sz="1300" b="1" dirty="0">
                          <a:solidFill>
                            <a:srgbClr val="1F2D3D"/>
                          </a:solidFill>
                        </a:rPr>
                        <a:t>Scheduled manual inspection</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Direct visual condition</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2E8B57"/>
                          </a:solidFill>
                        </a:rPr>
                        <a:t>Yes — current practice</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Only at visit time; visits can be mistimed</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D3D"/>
                          </a:solidFill>
                        </a:rPr>
                        <a:t>Single upstream level</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1F2D3D"/>
                          </a:solidFill>
                        </a:rPr>
                        <a:t>Water level rising</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2E8B57"/>
                          </a:solidFill>
                        </a:rPr>
                        <a:t>Yes — commercial screens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1F2D3D"/>
                          </a:solidFill>
                        </a:rPr>
                        <a:t>Rain or tide raise level with no debris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300" b="1" dirty="0">
                          <a:solidFill>
                            <a:srgbClr val="1F2D3D"/>
                          </a:solidFill>
                        </a:rPr>
                        <a:t>Differential level (Δh)</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Head across screen</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2E8B57"/>
                          </a:solidFill>
                        </a:rPr>
                        <a:t>Yes — Aquasition, AMETEK</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Built for fixed screens; tide/backwater confound; shallow booms give small Δh</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D3D"/>
                          </a:solidFill>
                        </a:rPr>
                        <a:t>Camera monitoring</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1F2D3D"/>
                          </a:solidFill>
                        </a:rPr>
                        <a:t>Images of the screen</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2E8B57"/>
                          </a:solidFill>
                        </a:rPr>
                        <a:t>Yes — commercial</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300" dirty="0">
                          <a:solidFill>
                            <a:srgbClr val="1F2D3D"/>
                          </a:solidFill>
                        </a:rPr>
                        <a:t>Needs a person to view; night, glare, no load info</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300" b="1" dirty="0">
                          <a:solidFill>
                            <a:srgbClr val="1F2D3D"/>
                          </a:solidFill>
                        </a:rPr>
                        <a:t>Mooring-line tension</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Mechanical load on boom</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5B4B9A"/>
                          </a:solidFill>
                        </a:rPr>
                        <a:t>Research — tank &amp; field tests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300" dirty="0">
                          <a:solidFill>
                            <a:srgbClr val="1F2D3D"/>
                          </a:solidFill>
                        </a:rPr>
                        <a:t>Flow speed alone changes load; mostly design studies, not alerts</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FFFFFF"/>
                          </a:solidFill>
                        </a:rPr>
                        <a:t>StarDust (proposed)</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c>
                  <a:txBody>
                    <a:bodyPr/>
                    <a:lstStyle/>
                    <a:p>
                      <a:pPr indent="0" marL="0">
                        <a:buNone/>
                      </a:pPr>
                      <a:r>
                        <a:rPr lang="en-US" sz="1300" dirty="0">
                          <a:solidFill>
                            <a:srgbClr val="0B2545"/>
                          </a:solidFill>
                        </a:rPr>
                        <a:t>Δh + tension + validity</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3F4F5"/>
                    </a:solidFill>
                  </a:tcPr>
                </a:tc>
                <a:tc>
                  <a:txBody>
                    <a:bodyPr/>
                    <a:lstStyle/>
                    <a:p>
                      <a:pPr indent="0" marL="0">
                        <a:buNone/>
                      </a:pPr>
                      <a:r>
                        <a:rPr lang="en-US" sz="1300" dirty="0">
                          <a:solidFill>
                            <a:srgbClr val="0B2545"/>
                          </a:solidFill>
                        </a:rPr>
                        <a:t>To be tested</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3F4F5"/>
                    </a:solidFill>
                  </a:tcPr>
                </a:tc>
                <a:tc>
                  <a:txBody>
                    <a:bodyPr/>
                    <a:lstStyle/>
                    <a:p>
                      <a:pPr indent="0" marL="0">
                        <a:buNone/>
                      </a:pPr>
                      <a:r>
                        <a:rPr lang="en-US" sz="1300" dirty="0">
                          <a:solidFill>
                            <a:srgbClr val="0B2545"/>
                          </a:solidFill>
                        </a:rPr>
                        <a:t>Must beat level-only &amp; tension-only to justify itself</a:t>
                      </a:r>
                      <a:endParaRPr lang="en-US" sz="13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E3F4F5"/>
                    </a:solidFill>
                  </a:tcPr>
                </a:tc>
              </a:tr>
            </a:tbl>
          </a:graphicData>
        </a:graphic>
      </p:graphicFrame>
      <p:sp>
        <p:nvSpPr>
          <p:cNvPr id="5" name="Shape 2"/>
          <p:cNvSpPr/>
          <p:nvPr/>
        </p:nvSpPr>
        <p:spPr>
          <a:xfrm>
            <a:off x="457200" y="4892040"/>
            <a:ext cx="5486400" cy="1188720"/>
          </a:xfrm>
          <a:prstGeom prst="roundRect">
            <a:avLst>
              <a:gd name="adj" fmla="val 6154"/>
            </a:avLst>
          </a:prstGeom>
          <a:solidFill>
            <a:srgbClr val="F3F6F9"/>
          </a:solidFill>
          <a:ln w="9525">
            <a:solidFill>
              <a:srgbClr val="F3F6F9"/>
            </a:solidFill>
            <a:prstDash val="solid"/>
          </a:ln>
        </p:spPr>
      </p:sp>
      <p:sp>
        <p:nvSpPr>
          <p:cNvPr id="6" name="Text 3"/>
          <p:cNvSpPr txBox="1"/>
          <p:nvPr/>
        </p:nvSpPr>
        <p:spPr>
          <a:xfrm>
            <a:off x="640080" y="4983480"/>
            <a:ext cx="5120640" cy="1005840"/>
          </a:xfrm>
          <a:prstGeom prst="rect">
            <a:avLst/>
          </a:prstGeom>
          <a:noFill/>
          <a:ln/>
        </p:spPr>
        <p:txBody>
          <a:bodyPr wrap="square" lIns="0" tIns="0" rIns="0" bIns="0" rtlCol="0" anchor="t"/>
          <a:lstStyle/>
          <a:p>
            <a:pPr indent="0" marL="0">
              <a:buNone/>
            </a:pPr>
            <a:r>
              <a:rPr lang="en-US" sz="1400" b="1" dirty="0">
                <a:solidFill>
                  <a:srgbClr val="B83A3A"/>
                </a:solidFill>
                <a:latin typeface="Calibri" pitchFamily="34" charset="0"/>
                <a:ea typeface="Calibri" pitchFamily="34" charset="-122"/>
                <a:cs typeface="Calibri" pitchFamily="34" charset="-120"/>
              </a:rPr>
              <a:t>Not our claim</a:t>
            </a:r>
            <a:endParaRPr lang="en-US" sz="1400" dirty="0"/>
          </a:p>
          <a:p>
            <a:pPr indent="0" marL="0">
              <a:buNone/>
            </a:pPr>
            <a:r>
              <a:rPr lang="en-US" sz="1400" dirty="0">
                <a:solidFill>
                  <a:srgbClr val="1F2D3D"/>
                </a:solidFill>
                <a:latin typeface="Calibri" pitchFamily="34" charset="0"/>
                <a:ea typeface="Calibri" pitchFamily="34" charset="-122"/>
                <a:cs typeface="Calibri" pitchFamily="34" charset="-120"/>
              </a:rPr>
              <a:t>ESP32, ultrasonic level, load cells or 'sensor fusion' being new. We found related products and research.</a:t>
            </a:r>
            <a:endParaRPr lang="en-US" sz="1400" dirty="0"/>
          </a:p>
        </p:txBody>
      </p:sp>
      <p:sp>
        <p:nvSpPr>
          <p:cNvPr id="7" name="Shape 4"/>
          <p:cNvSpPr/>
          <p:nvPr/>
        </p:nvSpPr>
        <p:spPr>
          <a:xfrm>
            <a:off x="6217920" y="4892040"/>
            <a:ext cx="5486400" cy="1188720"/>
          </a:xfrm>
          <a:prstGeom prst="roundRect">
            <a:avLst>
              <a:gd name="adj" fmla="val 6154"/>
            </a:avLst>
          </a:prstGeom>
          <a:solidFill>
            <a:srgbClr val="E3F4F5"/>
          </a:solidFill>
          <a:ln w="9525">
            <a:solidFill>
              <a:srgbClr val="0E8C99"/>
            </a:solidFill>
            <a:prstDash val="solid"/>
          </a:ln>
        </p:spPr>
      </p:sp>
      <p:sp>
        <p:nvSpPr>
          <p:cNvPr id="8" name="Text 5"/>
          <p:cNvSpPr txBox="1"/>
          <p:nvPr/>
        </p:nvSpPr>
        <p:spPr>
          <a:xfrm>
            <a:off x="6400800" y="4983480"/>
            <a:ext cx="5120640" cy="1005840"/>
          </a:xfrm>
          <a:prstGeom prst="rect">
            <a:avLst/>
          </a:prstGeom>
          <a:noFill/>
          <a:ln/>
        </p:spPr>
        <p:txBody>
          <a:bodyPr wrap="square" lIns="0" tIns="0" rIns="0" bIns="0" rtlCol="0" anchor="t"/>
          <a:lstStyle/>
          <a:p>
            <a:pPr indent="0" marL="0">
              <a:buNone/>
            </a:pPr>
            <a:r>
              <a:rPr lang="en-US" sz="1400" b="1" dirty="0">
                <a:solidFill>
                  <a:srgbClr val="0E8C99"/>
                </a:solidFill>
                <a:latin typeface="Calibri" pitchFamily="34" charset="0"/>
                <a:ea typeface="Calibri" pitchFamily="34" charset="-122"/>
                <a:cs typeface="Calibri" pitchFamily="34" charset="-120"/>
              </a:rPr>
              <a:t>Our proposed contribution</a:t>
            </a:r>
            <a:endParaRPr lang="en-US" sz="1400" dirty="0"/>
          </a:p>
          <a:p>
            <a:pPr indent="0" marL="0">
              <a:buNone/>
            </a:pPr>
            <a:r>
              <a:rPr lang="en-US" sz="1400" dirty="0">
                <a:solidFill>
                  <a:srgbClr val="0B2545"/>
                </a:solidFill>
                <a:latin typeface="Calibri" pitchFamily="34" charset="0"/>
                <a:ea typeface="Calibri" pitchFamily="34" charset="-122"/>
                <a:cs typeface="Calibri" pitchFamily="34" charset="-120"/>
              </a:rPr>
              <a:t>Site-calibrated decision logic that keeps fault and uncertainty states, and a fair test against level-only and tension-only monitoring.</a:t>
            </a:r>
            <a:endParaRPr lang="en-US" sz="1400" dirty="0"/>
          </a:p>
        </p:txBody>
      </p:sp>
      <p:sp>
        <p:nvSpPr>
          <p:cNvPr id="9" name="Text 6"/>
          <p:cNvSpPr txBox="1"/>
          <p:nvPr/>
        </p:nvSpPr>
        <p:spPr>
          <a:xfrm>
            <a:off x="457200" y="6144768"/>
            <a:ext cx="1124712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Aquasition (2019) trash-screen monitoring; AMETEK app note, differential measurement for traveling screens; IPT towing-tank trash-boom tests (IAHR); trash-net mooring studies (Ocean Engineering 2022, Fluids 2022). Full list in appendix.</a:t>
            </a:r>
            <a:endParaRPr lang="en-US" sz="10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HOW IT WORKS</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Two hydraulic + one mechanical reading → one evidence-based state</a:t>
            </a:r>
            <a:endParaRPr lang="en-US" sz="2800" dirty="0"/>
          </a:p>
        </p:txBody>
      </p:sp>
      <p:sp>
        <p:nvSpPr>
          <p:cNvPr id="4" name="Text 2"/>
          <p:cNvSpPr txBox="1"/>
          <p:nvPr/>
        </p:nvSpPr>
        <p:spPr>
          <a:xfrm>
            <a:off x="457200" y="1371600"/>
            <a:ext cx="530352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Side view across the barrier</a:t>
            </a:r>
            <a:endParaRPr lang="en-US" sz="1500" dirty="0"/>
          </a:p>
        </p:txBody>
      </p:sp>
      <p:sp>
        <p:nvSpPr>
          <p:cNvPr id="5" name="Shape 3"/>
          <p:cNvSpPr/>
          <p:nvPr/>
        </p:nvSpPr>
        <p:spPr>
          <a:xfrm>
            <a:off x="457200" y="4937760"/>
            <a:ext cx="5394960" cy="228600"/>
          </a:xfrm>
          <a:prstGeom prst="rect">
            <a:avLst/>
          </a:prstGeom>
          <a:solidFill>
            <a:srgbClr val="B9C2CB"/>
          </a:solidFill>
          <a:ln w="9525">
            <a:solidFill>
              <a:srgbClr val="B9C2CB"/>
            </a:solidFill>
            <a:prstDash val="solid"/>
          </a:ln>
        </p:spPr>
      </p:sp>
      <p:sp>
        <p:nvSpPr>
          <p:cNvPr id="6" name="Shape 4"/>
          <p:cNvSpPr/>
          <p:nvPr/>
        </p:nvSpPr>
        <p:spPr>
          <a:xfrm>
            <a:off x="457200" y="3429000"/>
            <a:ext cx="2743200" cy="1508760"/>
          </a:xfrm>
          <a:prstGeom prst="rect">
            <a:avLst/>
          </a:prstGeom>
          <a:solidFill>
            <a:srgbClr val="BFE6EA"/>
          </a:solidFill>
          <a:ln w="9525">
            <a:solidFill>
              <a:srgbClr val="BFE6EA"/>
            </a:solidFill>
            <a:prstDash val="solid"/>
          </a:ln>
        </p:spPr>
      </p:sp>
      <p:sp>
        <p:nvSpPr>
          <p:cNvPr id="7" name="Shape 5"/>
          <p:cNvSpPr/>
          <p:nvPr/>
        </p:nvSpPr>
        <p:spPr>
          <a:xfrm>
            <a:off x="3200400" y="3794760"/>
            <a:ext cx="2651760" cy="1143000"/>
          </a:xfrm>
          <a:prstGeom prst="rect">
            <a:avLst/>
          </a:prstGeom>
          <a:solidFill>
            <a:srgbClr val="8FD3DA"/>
          </a:solidFill>
          <a:ln w="9525">
            <a:solidFill>
              <a:srgbClr val="8FD3DA"/>
            </a:solidFill>
            <a:prstDash val="solid"/>
          </a:ln>
        </p:spPr>
      </p:sp>
      <p:sp>
        <p:nvSpPr>
          <p:cNvPr id="8" name="Shape 6"/>
          <p:cNvSpPr/>
          <p:nvPr/>
        </p:nvSpPr>
        <p:spPr>
          <a:xfrm>
            <a:off x="3035808" y="3291840"/>
            <a:ext cx="329184" cy="329184"/>
          </a:xfrm>
          <a:prstGeom prst="ellipse">
            <a:avLst/>
          </a:prstGeom>
          <a:solidFill>
            <a:srgbClr val="E0702B"/>
          </a:solidFill>
          <a:ln w="9525">
            <a:solidFill>
              <a:srgbClr val="E0702B"/>
            </a:solidFill>
            <a:prstDash val="solid"/>
          </a:ln>
        </p:spPr>
      </p:sp>
      <p:sp>
        <p:nvSpPr>
          <p:cNvPr id="9" name="Shape 7"/>
          <p:cNvSpPr/>
          <p:nvPr/>
        </p:nvSpPr>
        <p:spPr>
          <a:xfrm>
            <a:off x="3163824" y="3621024"/>
            <a:ext cx="73152" cy="502920"/>
          </a:xfrm>
          <a:prstGeom prst="rect">
            <a:avLst/>
          </a:prstGeom>
          <a:solidFill>
            <a:srgbClr val="C25A1C"/>
          </a:solidFill>
          <a:ln w="9525">
            <a:solidFill>
              <a:srgbClr val="C25A1C"/>
            </a:solidFill>
            <a:prstDash val="solid"/>
          </a:ln>
        </p:spPr>
      </p:sp>
      <p:sp>
        <p:nvSpPr>
          <p:cNvPr id="10" name="Shape 8"/>
          <p:cNvSpPr/>
          <p:nvPr/>
        </p:nvSpPr>
        <p:spPr>
          <a:xfrm>
            <a:off x="2468880" y="3310128"/>
            <a:ext cx="201168" cy="128016"/>
          </a:xfrm>
          <a:prstGeom prst="ellipse">
            <a:avLst/>
          </a:prstGeom>
          <a:solidFill>
            <a:srgbClr val="8C96A3"/>
          </a:solidFill>
          <a:ln w="9525">
            <a:solidFill>
              <a:srgbClr val="8C96A3"/>
            </a:solidFill>
            <a:prstDash val="solid"/>
          </a:ln>
        </p:spPr>
      </p:sp>
      <p:sp>
        <p:nvSpPr>
          <p:cNvPr id="11" name="Shape 9"/>
          <p:cNvSpPr/>
          <p:nvPr/>
        </p:nvSpPr>
        <p:spPr>
          <a:xfrm>
            <a:off x="2697480" y="3346704"/>
            <a:ext cx="201168" cy="128016"/>
          </a:xfrm>
          <a:prstGeom prst="ellipse">
            <a:avLst/>
          </a:prstGeom>
          <a:solidFill>
            <a:srgbClr val="8C96A3"/>
          </a:solidFill>
          <a:ln w="9525">
            <a:solidFill>
              <a:srgbClr val="8C96A3"/>
            </a:solidFill>
            <a:prstDash val="solid"/>
          </a:ln>
        </p:spPr>
      </p:sp>
      <p:sp>
        <p:nvSpPr>
          <p:cNvPr id="12" name="Shape 10"/>
          <p:cNvSpPr/>
          <p:nvPr/>
        </p:nvSpPr>
        <p:spPr>
          <a:xfrm>
            <a:off x="2834640" y="3291840"/>
            <a:ext cx="201168" cy="128016"/>
          </a:xfrm>
          <a:prstGeom prst="ellipse">
            <a:avLst/>
          </a:prstGeom>
          <a:solidFill>
            <a:srgbClr val="8C96A3"/>
          </a:solidFill>
          <a:ln w="9525">
            <a:solidFill>
              <a:srgbClr val="8C96A3"/>
            </a:solidFill>
            <a:prstDash val="solid"/>
          </a:ln>
        </p:spPr>
      </p:sp>
      <p:sp>
        <p:nvSpPr>
          <p:cNvPr id="13" name="Shape 11"/>
          <p:cNvSpPr/>
          <p:nvPr/>
        </p:nvSpPr>
        <p:spPr>
          <a:xfrm>
            <a:off x="2240280" y="3346704"/>
            <a:ext cx="201168" cy="128016"/>
          </a:xfrm>
          <a:prstGeom prst="ellipse">
            <a:avLst/>
          </a:prstGeom>
          <a:solidFill>
            <a:srgbClr val="8C96A3"/>
          </a:solidFill>
          <a:ln w="9525">
            <a:solidFill>
              <a:srgbClr val="8C96A3"/>
            </a:solidFill>
            <a:prstDash val="solid"/>
          </a:ln>
        </p:spPr>
      </p:sp>
      <p:sp>
        <p:nvSpPr>
          <p:cNvPr id="14" name="Shape 12"/>
          <p:cNvSpPr/>
          <p:nvPr/>
        </p:nvSpPr>
        <p:spPr>
          <a:xfrm>
            <a:off x="457200" y="1920240"/>
            <a:ext cx="5394960" cy="914"/>
          </a:xfrm>
          <a:prstGeom prst="line">
            <a:avLst/>
          </a:prstGeom>
          <a:noFill/>
          <a:ln w="12700">
            <a:solidFill>
              <a:srgbClr val="5B6B7F"/>
            </a:solidFill>
            <a:prstDash val="dash"/>
          </a:ln>
        </p:spPr>
      </p:sp>
      <p:sp>
        <p:nvSpPr>
          <p:cNvPr id="15" name="Text 13"/>
          <p:cNvSpPr txBox="1"/>
          <p:nvPr/>
        </p:nvSpPr>
        <p:spPr>
          <a:xfrm>
            <a:off x="3931920" y="1691640"/>
            <a:ext cx="1920240" cy="228600"/>
          </a:xfrm>
          <a:prstGeom prst="rect">
            <a:avLst/>
          </a:prstGeom>
          <a:noFill/>
          <a:ln/>
        </p:spPr>
        <p:txBody>
          <a:bodyPr wrap="square" lIns="0" tIns="0" rIns="0" bIns="0" rtlCol="0" anchor="t"/>
          <a:lstStyle/>
          <a:p>
            <a:pPr algn="r" indent="0" marL="0">
              <a:buNone/>
            </a:pPr>
            <a:r>
              <a:rPr lang="en-US" sz="1000" dirty="0">
                <a:solidFill>
                  <a:srgbClr val="5B6B7F"/>
                </a:solidFill>
                <a:latin typeface="Calibri" pitchFamily="34" charset="0"/>
                <a:ea typeface="Calibri" pitchFamily="34" charset="-122"/>
                <a:cs typeface="Calibri" pitchFamily="34" charset="-120"/>
              </a:rPr>
              <a:t>common surveyed datum</a:t>
            </a:r>
            <a:endParaRPr lang="en-US" sz="1000" dirty="0"/>
          </a:p>
        </p:txBody>
      </p:sp>
      <p:sp>
        <p:nvSpPr>
          <p:cNvPr id="16" name="Shape 14"/>
          <p:cNvSpPr/>
          <p:nvPr/>
        </p:nvSpPr>
        <p:spPr>
          <a:xfrm>
            <a:off x="914400" y="2057400"/>
            <a:ext cx="548640" cy="320040"/>
          </a:xfrm>
          <a:prstGeom prst="roundRect">
            <a:avLst>
              <a:gd name="adj" fmla="val 11429"/>
            </a:avLst>
          </a:prstGeom>
          <a:solidFill>
            <a:srgbClr val="0E8C99"/>
          </a:solidFill>
          <a:ln w="9525">
            <a:solidFill>
              <a:srgbClr val="0E8C99"/>
            </a:solidFill>
            <a:prstDash val="solid"/>
          </a:ln>
        </p:spPr>
      </p:sp>
      <p:sp>
        <p:nvSpPr>
          <p:cNvPr id="17" name="Text 15"/>
          <p:cNvSpPr txBox="1"/>
          <p:nvPr/>
        </p:nvSpPr>
        <p:spPr>
          <a:xfrm>
            <a:off x="914400" y="2057400"/>
            <a:ext cx="5486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18" name="Shape 16"/>
          <p:cNvSpPr/>
          <p:nvPr/>
        </p:nvSpPr>
        <p:spPr>
          <a:xfrm>
            <a:off x="4663440" y="2057400"/>
            <a:ext cx="548640" cy="320040"/>
          </a:xfrm>
          <a:prstGeom prst="roundRect">
            <a:avLst>
              <a:gd name="adj" fmla="val 11429"/>
            </a:avLst>
          </a:prstGeom>
          <a:solidFill>
            <a:srgbClr val="0E8C99"/>
          </a:solidFill>
          <a:ln w="9525">
            <a:solidFill>
              <a:srgbClr val="0E8C99"/>
            </a:solidFill>
            <a:prstDash val="solid"/>
          </a:ln>
        </p:spPr>
      </p:sp>
      <p:sp>
        <p:nvSpPr>
          <p:cNvPr id="19" name="Text 17"/>
          <p:cNvSpPr txBox="1"/>
          <p:nvPr/>
        </p:nvSpPr>
        <p:spPr>
          <a:xfrm>
            <a:off x="4663440" y="2057400"/>
            <a:ext cx="5486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0" name="Shape 18"/>
          <p:cNvSpPr/>
          <p:nvPr/>
        </p:nvSpPr>
        <p:spPr>
          <a:xfrm>
            <a:off x="1188720" y="2395728"/>
            <a:ext cx="914" cy="1005840"/>
          </a:xfrm>
          <a:prstGeom prst="line">
            <a:avLst/>
          </a:prstGeom>
          <a:noFill/>
          <a:ln w="15875">
            <a:solidFill>
              <a:srgbClr val="0E8C99"/>
            </a:solidFill>
            <a:prstDash val="sysDash"/>
            <a:tailEnd type="triangle"/>
          </a:ln>
        </p:spPr>
      </p:sp>
      <p:sp>
        <p:nvSpPr>
          <p:cNvPr id="21" name="Shape 19"/>
          <p:cNvSpPr/>
          <p:nvPr/>
        </p:nvSpPr>
        <p:spPr>
          <a:xfrm>
            <a:off x="4937760" y="2395728"/>
            <a:ext cx="914" cy="1371600"/>
          </a:xfrm>
          <a:prstGeom prst="line">
            <a:avLst/>
          </a:prstGeom>
          <a:noFill/>
          <a:ln w="15875">
            <a:solidFill>
              <a:srgbClr val="0E8C99"/>
            </a:solidFill>
            <a:prstDash val="sysDash"/>
            <a:tailEnd type="triangle"/>
          </a:ln>
        </p:spPr>
      </p:sp>
      <p:sp>
        <p:nvSpPr>
          <p:cNvPr id="22" name="Text 20"/>
          <p:cNvSpPr txBox="1"/>
          <p:nvPr/>
        </p:nvSpPr>
        <p:spPr>
          <a:xfrm>
            <a:off x="1261872" y="2697480"/>
            <a:ext cx="365760" cy="274320"/>
          </a:xfrm>
          <a:prstGeom prst="rect">
            <a:avLst/>
          </a:prstGeom>
          <a:noFill/>
          <a:ln/>
        </p:spPr>
        <p:txBody>
          <a:bodyPr wrap="square" lIns="0" tIns="0" rIns="0" bIns="0" rtlCol="0" anchor="t"/>
          <a:lstStyle/>
          <a:p>
            <a:pPr indent="0" marL="0">
              <a:buNone/>
            </a:pPr>
            <a:r>
              <a:rPr lang="en-US" sz="1200" b="1" dirty="0">
                <a:solidFill>
                  <a:srgbClr val="0E8C99"/>
                </a:solidFill>
                <a:latin typeface="Calibri" pitchFamily="34" charset="0"/>
                <a:ea typeface="Calibri" pitchFamily="34" charset="-122"/>
                <a:cs typeface="Calibri" pitchFamily="34" charset="-120"/>
              </a:rPr>
              <a:t>dA</a:t>
            </a:r>
            <a:endParaRPr lang="en-US" sz="1200" dirty="0"/>
          </a:p>
        </p:txBody>
      </p:sp>
      <p:sp>
        <p:nvSpPr>
          <p:cNvPr id="23" name="Text 21"/>
          <p:cNvSpPr txBox="1"/>
          <p:nvPr/>
        </p:nvSpPr>
        <p:spPr>
          <a:xfrm>
            <a:off x="5010912" y="2880360"/>
            <a:ext cx="365760" cy="274320"/>
          </a:xfrm>
          <a:prstGeom prst="rect">
            <a:avLst/>
          </a:prstGeom>
          <a:noFill/>
          <a:ln/>
        </p:spPr>
        <p:txBody>
          <a:bodyPr wrap="square" lIns="0" tIns="0" rIns="0" bIns="0" rtlCol="0" anchor="t"/>
          <a:lstStyle/>
          <a:p>
            <a:pPr indent="0" marL="0">
              <a:buNone/>
            </a:pPr>
            <a:r>
              <a:rPr lang="en-US" sz="1200" b="1" dirty="0">
                <a:solidFill>
                  <a:srgbClr val="0E8C99"/>
                </a:solidFill>
                <a:latin typeface="Calibri" pitchFamily="34" charset="0"/>
                <a:ea typeface="Calibri" pitchFamily="34" charset="-122"/>
                <a:cs typeface="Calibri" pitchFamily="34" charset="-120"/>
              </a:rPr>
              <a:t>dB</a:t>
            </a:r>
            <a:endParaRPr lang="en-US" sz="1200" dirty="0"/>
          </a:p>
        </p:txBody>
      </p:sp>
      <p:sp>
        <p:nvSpPr>
          <p:cNvPr id="24" name="Shape 22"/>
          <p:cNvSpPr/>
          <p:nvPr/>
        </p:nvSpPr>
        <p:spPr>
          <a:xfrm>
            <a:off x="3657600" y="3429000"/>
            <a:ext cx="548640" cy="914"/>
          </a:xfrm>
          <a:prstGeom prst="line">
            <a:avLst/>
          </a:prstGeom>
          <a:noFill/>
          <a:ln w="12700">
            <a:solidFill>
              <a:srgbClr val="0B2545"/>
            </a:solidFill>
            <a:prstDash val="solid"/>
          </a:ln>
        </p:spPr>
      </p:sp>
      <p:sp>
        <p:nvSpPr>
          <p:cNvPr id="25" name="Shape 23"/>
          <p:cNvSpPr/>
          <p:nvPr/>
        </p:nvSpPr>
        <p:spPr>
          <a:xfrm>
            <a:off x="3931920" y="3438144"/>
            <a:ext cx="914" cy="347472"/>
          </a:xfrm>
          <a:prstGeom prst="line">
            <a:avLst/>
          </a:prstGeom>
          <a:noFill/>
          <a:ln w="15875">
            <a:solidFill>
              <a:srgbClr val="0B2545"/>
            </a:solidFill>
            <a:prstDash val="solid"/>
            <a:headEnd type="triangle"/>
            <a:tailEnd type="triangle"/>
          </a:ln>
        </p:spPr>
      </p:sp>
      <p:sp>
        <p:nvSpPr>
          <p:cNvPr id="26" name="Text 24"/>
          <p:cNvSpPr txBox="1"/>
          <p:nvPr/>
        </p:nvSpPr>
        <p:spPr>
          <a:xfrm>
            <a:off x="4023360" y="3474720"/>
            <a:ext cx="457200" cy="2743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Δh</a:t>
            </a:r>
            <a:endParaRPr lang="en-US" sz="1400" dirty="0"/>
          </a:p>
        </p:txBody>
      </p:sp>
      <p:sp>
        <p:nvSpPr>
          <p:cNvPr id="27" name="Shape 25"/>
          <p:cNvSpPr/>
          <p:nvPr/>
        </p:nvSpPr>
        <p:spPr>
          <a:xfrm flipH="1">
            <a:off x="685800" y="3456432"/>
            <a:ext cx="2514600" cy="1069848"/>
          </a:xfrm>
          <a:prstGeom prst="line">
            <a:avLst/>
          </a:prstGeom>
          <a:noFill/>
          <a:ln w="19050">
            <a:solidFill>
              <a:srgbClr val="0B2545"/>
            </a:solidFill>
            <a:prstDash val="solid"/>
          </a:ln>
        </p:spPr>
      </p:sp>
      <p:sp>
        <p:nvSpPr>
          <p:cNvPr id="28" name="Shape 26"/>
          <p:cNvSpPr/>
          <p:nvPr/>
        </p:nvSpPr>
        <p:spPr>
          <a:xfrm rot="-1380000">
            <a:off x="1691640" y="3959352"/>
            <a:ext cx="384048" cy="219456"/>
          </a:xfrm>
          <a:prstGeom prst="rect">
            <a:avLst/>
          </a:prstGeom>
          <a:solidFill>
            <a:srgbClr val="5B4B9A"/>
          </a:solidFill>
          <a:ln w="9525">
            <a:solidFill>
              <a:srgbClr val="5B4B9A"/>
            </a:solidFill>
            <a:prstDash val="solid"/>
          </a:ln>
        </p:spPr>
      </p:sp>
      <p:sp>
        <p:nvSpPr>
          <p:cNvPr id="29" name="Text 27"/>
          <p:cNvSpPr txBox="1"/>
          <p:nvPr/>
        </p:nvSpPr>
        <p:spPr>
          <a:xfrm>
            <a:off x="1920240" y="4160520"/>
            <a:ext cx="1188720" cy="274320"/>
          </a:xfrm>
          <a:prstGeom prst="rect">
            <a:avLst/>
          </a:prstGeom>
          <a:noFill/>
          <a:ln/>
        </p:spPr>
        <p:txBody>
          <a:bodyPr wrap="square" lIns="0" tIns="0" rIns="0" bIns="0" rtlCol="0" anchor="t"/>
          <a:lstStyle/>
          <a:p>
            <a:pPr indent="0" marL="0">
              <a:buNone/>
            </a:pPr>
            <a:r>
              <a:rPr lang="en-US" sz="1100" b="1" dirty="0">
                <a:solidFill>
                  <a:srgbClr val="5B4B9A"/>
                </a:solidFill>
                <a:latin typeface="Calibri" pitchFamily="34" charset="0"/>
                <a:ea typeface="Calibri" pitchFamily="34" charset="-122"/>
                <a:cs typeface="Calibri" pitchFamily="34" charset="-120"/>
              </a:rPr>
              <a:t>load cell</a:t>
            </a:r>
            <a:endParaRPr lang="en-US" sz="1100" dirty="0"/>
          </a:p>
        </p:txBody>
      </p:sp>
      <p:sp>
        <p:nvSpPr>
          <p:cNvPr id="30" name="Shape 28"/>
          <p:cNvSpPr/>
          <p:nvPr/>
        </p:nvSpPr>
        <p:spPr>
          <a:xfrm>
            <a:off x="566928" y="4498848"/>
            <a:ext cx="201168" cy="201168"/>
          </a:xfrm>
          <a:prstGeom prst="ellipse">
            <a:avLst/>
          </a:prstGeom>
          <a:solidFill>
            <a:srgbClr val="0B2545"/>
          </a:solidFill>
          <a:ln w="9525">
            <a:solidFill>
              <a:srgbClr val="0B2545"/>
            </a:solidFill>
            <a:prstDash val="solid"/>
          </a:ln>
        </p:spPr>
      </p:sp>
      <p:sp>
        <p:nvSpPr>
          <p:cNvPr id="31" name="Shape 29"/>
          <p:cNvSpPr/>
          <p:nvPr/>
        </p:nvSpPr>
        <p:spPr>
          <a:xfrm>
            <a:off x="640080" y="2926080"/>
            <a:ext cx="274320" cy="914"/>
          </a:xfrm>
          <a:prstGeom prst="line">
            <a:avLst/>
          </a:prstGeom>
          <a:noFill/>
          <a:ln w="25400">
            <a:solidFill>
              <a:srgbClr val="0E8C99"/>
            </a:solidFill>
            <a:prstDash val="solid"/>
            <a:tailEnd type="triangle"/>
          </a:ln>
        </p:spPr>
      </p:sp>
      <p:sp>
        <p:nvSpPr>
          <p:cNvPr id="32" name="Text 30"/>
          <p:cNvSpPr txBox="1"/>
          <p:nvPr/>
        </p:nvSpPr>
        <p:spPr>
          <a:xfrm>
            <a:off x="502920" y="2651760"/>
            <a:ext cx="548640" cy="274320"/>
          </a:xfrm>
          <a:prstGeom prst="rect">
            <a:avLst/>
          </a:prstGeom>
          <a:noFill/>
          <a:ln/>
        </p:spPr>
        <p:txBody>
          <a:bodyPr wrap="square" lIns="0" tIns="0" rIns="0" bIns="0" rtlCol="0" anchor="t"/>
          <a:lstStyle/>
          <a:p>
            <a:pPr indent="0" marL="0">
              <a:buNone/>
            </a:pPr>
            <a:r>
              <a:rPr lang="en-US" sz="1100" b="1" dirty="0">
                <a:solidFill>
                  <a:srgbClr val="0E8C99"/>
                </a:solidFill>
                <a:latin typeface="Calibri" pitchFamily="34" charset="0"/>
                <a:ea typeface="Calibri" pitchFamily="34" charset="-122"/>
                <a:cs typeface="Calibri" pitchFamily="34" charset="-120"/>
              </a:rPr>
              <a:t>flow</a:t>
            </a:r>
            <a:endParaRPr lang="en-US" sz="1100" dirty="0"/>
          </a:p>
        </p:txBody>
      </p:sp>
      <p:sp>
        <p:nvSpPr>
          <p:cNvPr id="33" name="Shape 31"/>
          <p:cNvSpPr/>
          <p:nvPr/>
        </p:nvSpPr>
        <p:spPr>
          <a:xfrm>
            <a:off x="457200" y="5349240"/>
            <a:ext cx="5394960" cy="731520"/>
          </a:xfrm>
          <a:prstGeom prst="roundRect">
            <a:avLst>
              <a:gd name="adj" fmla="val 10000"/>
            </a:avLst>
          </a:prstGeom>
          <a:solidFill>
            <a:srgbClr val="F3F6F9"/>
          </a:solidFill>
          <a:ln w="9525">
            <a:solidFill>
              <a:srgbClr val="F3F6F9"/>
            </a:solidFill>
            <a:prstDash val="solid"/>
          </a:ln>
        </p:spPr>
      </p:sp>
      <p:sp>
        <p:nvSpPr>
          <p:cNvPr id="34" name="Text 32"/>
          <p:cNvSpPr txBox="1"/>
          <p:nvPr/>
        </p:nvSpPr>
        <p:spPr>
          <a:xfrm>
            <a:off x="640080" y="5413248"/>
            <a:ext cx="5120640" cy="64008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h = z − d     Δh = hA − hB</a:t>
            </a:r>
            <a:endParaRPr lang="en-US" sz="1500" dirty="0"/>
          </a:p>
          <a:p>
            <a:pPr indent="0" marL="0">
              <a:buNone/>
            </a:pPr>
            <a:r>
              <a:rPr lang="en-US" sz="1200" dirty="0">
                <a:solidFill>
                  <a:srgbClr val="5B6B7F"/>
                </a:solidFill>
                <a:latin typeface="Calibri" pitchFamily="34" charset="0"/>
                <a:ea typeface="Calibri" pitchFamily="34" charset="-122"/>
                <a:cs typeface="Calibri" pitchFamily="34" charset="-120"/>
              </a:rPr>
              <a:t>T [N] = k × (raw − zero offset)   — calibrated on the actual fixture</a:t>
            </a:r>
            <a:endParaRPr lang="en-US" sz="1500" dirty="0"/>
          </a:p>
        </p:txBody>
      </p:sp>
      <p:sp>
        <p:nvSpPr>
          <p:cNvPr id="35" name="Text 33"/>
          <p:cNvSpPr txBox="1"/>
          <p:nvPr/>
        </p:nvSpPr>
        <p:spPr>
          <a:xfrm>
            <a:off x="6309360" y="1371600"/>
            <a:ext cx="539496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Data path</a:t>
            </a:r>
            <a:endParaRPr lang="en-US" sz="1500" dirty="0"/>
          </a:p>
        </p:txBody>
      </p:sp>
      <p:sp>
        <p:nvSpPr>
          <p:cNvPr id="36" name="Shape 34"/>
          <p:cNvSpPr/>
          <p:nvPr/>
        </p:nvSpPr>
        <p:spPr>
          <a:xfrm>
            <a:off x="6309360" y="1828800"/>
            <a:ext cx="2423160" cy="713232"/>
          </a:xfrm>
          <a:prstGeom prst="roundRect">
            <a:avLst>
              <a:gd name="adj" fmla="val 10256"/>
            </a:avLst>
          </a:prstGeom>
          <a:solidFill>
            <a:srgbClr val="E3F4F5"/>
          </a:solidFill>
          <a:ln w="9525">
            <a:solidFill>
              <a:srgbClr val="0E8C99"/>
            </a:solidFill>
            <a:prstDash val="solid"/>
          </a:ln>
        </p:spPr>
      </p:sp>
      <p:sp>
        <p:nvSpPr>
          <p:cNvPr id="37" name="Text 35"/>
          <p:cNvSpPr txBox="1"/>
          <p:nvPr/>
        </p:nvSpPr>
        <p:spPr>
          <a:xfrm>
            <a:off x="6400800" y="1901952"/>
            <a:ext cx="2286000" cy="32004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Level A — upstream</a:t>
            </a:r>
            <a:endParaRPr lang="en-US" sz="1300" dirty="0"/>
          </a:p>
        </p:txBody>
      </p:sp>
      <p:sp>
        <p:nvSpPr>
          <p:cNvPr id="38" name="Text 36"/>
          <p:cNvSpPr txBox="1"/>
          <p:nvPr/>
        </p:nvSpPr>
        <p:spPr>
          <a:xfrm>
            <a:off x="6400800" y="2221992"/>
            <a:ext cx="228600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ultrasonic, JSN-SR04T-class</a:t>
            </a:r>
            <a:endParaRPr lang="en-US" sz="1100" dirty="0"/>
          </a:p>
        </p:txBody>
      </p:sp>
      <p:sp>
        <p:nvSpPr>
          <p:cNvPr id="39" name="Shape 37"/>
          <p:cNvSpPr/>
          <p:nvPr/>
        </p:nvSpPr>
        <p:spPr>
          <a:xfrm>
            <a:off x="8750808" y="2185416"/>
            <a:ext cx="347472" cy="868680"/>
          </a:xfrm>
          <a:prstGeom prst="line">
            <a:avLst/>
          </a:prstGeom>
          <a:noFill/>
          <a:ln w="19050">
            <a:solidFill>
              <a:srgbClr val="0B2545"/>
            </a:solidFill>
            <a:prstDash val="solid"/>
            <a:tailEnd type="triangle"/>
          </a:ln>
        </p:spPr>
      </p:sp>
      <p:sp>
        <p:nvSpPr>
          <p:cNvPr id="40" name="Shape 38"/>
          <p:cNvSpPr/>
          <p:nvPr/>
        </p:nvSpPr>
        <p:spPr>
          <a:xfrm>
            <a:off x="6309360" y="2697480"/>
            <a:ext cx="2423160" cy="713232"/>
          </a:xfrm>
          <a:prstGeom prst="roundRect">
            <a:avLst>
              <a:gd name="adj" fmla="val 10256"/>
            </a:avLst>
          </a:prstGeom>
          <a:solidFill>
            <a:srgbClr val="E3F4F5"/>
          </a:solidFill>
          <a:ln w="9525">
            <a:solidFill>
              <a:srgbClr val="0E8C99"/>
            </a:solidFill>
            <a:prstDash val="solid"/>
          </a:ln>
        </p:spPr>
      </p:sp>
      <p:sp>
        <p:nvSpPr>
          <p:cNvPr id="41" name="Text 39"/>
          <p:cNvSpPr txBox="1"/>
          <p:nvPr/>
        </p:nvSpPr>
        <p:spPr>
          <a:xfrm>
            <a:off x="6400800" y="2770632"/>
            <a:ext cx="2286000" cy="32004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Level B — downstream</a:t>
            </a:r>
            <a:endParaRPr lang="en-US" sz="1300" dirty="0"/>
          </a:p>
        </p:txBody>
      </p:sp>
      <p:sp>
        <p:nvSpPr>
          <p:cNvPr id="42" name="Text 40"/>
          <p:cNvSpPr txBox="1"/>
          <p:nvPr/>
        </p:nvSpPr>
        <p:spPr>
          <a:xfrm>
            <a:off x="6400800" y="3090672"/>
            <a:ext cx="228600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ultrasonic, sequential trigger</a:t>
            </a:r>
            <a:endParaRPr lang="en-US" sz="1100" dirty="0"/>
          </a:p>
        </p:txBody>
      </p:sp>
      <p:sp>
        <p:nvSpPr>
          <p:cNvPr id="43" name="Shape 41"/>
          <p:cNvSpPr/>
          <p:nvPr/>
        </p:nvSpPr>
        <p:spPr>
          <a:xfrm flipV="1">
            <a:off x="8750808" y="3054096"/>
            <a:ext cx="347472" cy="914"/>
          </a:xfrm>
          <a:prstGeom prst="line">
            <a:avLst/>
          </a:prstGeom>
          <a:noFill/>
          <a:ln w="19050">
            <a:solidFill>
              <a:srgbClr val="0B2545"/>
            </a:solidFill>
            <a:prstDash val="solid"/>
            <a:tailEnd type="triangle"/>
          </a:ln>
        </p:spPr>
      </p:sp>
      <p:sp>
        <p:nvSpPr>
          <p:cNvPr id="44" name="Shape 42"/>
          <p:cNvSpPr/>
          <p:nvPr/>
        </p:nvSpPr>
        <p:spPr>
          <a:xfrm>
            <a:off x="6309360" y="3566160"/>
            <a:ext cx="2423160" cy="713232"/>
          </a:xfrm>
          <a:prstGeom prst="roundRect">
            <a:avLst>
              <a:gd name="adj" fmla="val 10256"/>
            </a:avLst>
          </a:prstGeom>
          <a:solidFill>
            <a:srgbClr val="ECE9F6"/>
          </a:solidFill>
          <a:ln w="9525">
            <a:solidFill>
              <a:srgbClr val="5B4B9A"/>
            </a:solidFill>
            <a:prstDash val="solid"/>
          </a:ln>
        </p:spPr>
      </p:sp>
      <p:sp>
        <p:nvSpPr>
          <p:cNvPr id="45" name="Text 43"/>
          <p:cNvSpPr txBox="1"/>
          <p:nvPr/>
        </p:nvSpPr>
        <p:spPr>
          <a:xfrm>
            <a:off x="6400800" y="3639312"/>
            <a:ext cx="2286000" cy="32004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Mooring load cell → HX711</a:t>
            </a:r>
            <a:endParaRPr lang="en-US" sz="1300" dirty="0"/>
          </a:p>
        </p:txBody>
      </p:sp>
      <p:sp>
        <p:nvSpPr>
          <p:cNvPr id="46" name="Text 44"/>
          <p:cNvSpPr txBox="1"/>
          <p:nvPr/>
        </p:nvSpPr>
        <p:spPr>
          <a:xfrm>
            <a:off x="6400800" y="3959352"/>
            <a:ext cx="2286000" cy="27432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24-bit bridge ADC, DOUT/SCK</a:t>
            </a:r>
            <a:endParaRPr lang="en-US" sz="1100" dirty="0"/>
          </a:p>
        </p:txBody>
      </p:sp>
      <p:sp>
        <p:nvSpPr>
          <p:cNvPr id="47" name="Shape 45"/>
          <p:cNvSpPr/>
          <p:nvPr/>
        </p:nvSpPr>
        <p:spPr>
          <a:xfrm flipV="1">
            <a:off x="8750808" y="3054096"/>
            <a:ext cx="347472" cy="868680"/>
          </a:xfrm>
          <a:prstGeom prst="line">
            <a:avLst/>
          </a:prstGeom>
          <a:noFill/>
          <a:ln w="19050">
            <a:solidFill>
              <a:srgbClr val="0B2545"/>
            </a:solidFill>
            <a:prstDash val="solid"/>
            <a:tailEnd type="triangle"/>
          </a:ln>
        </p:spPr>
      </p:sp>
      <p:sp>
        <p:nvSpPr>
          <p:cNvPr id="48" name="Shape 46"/>
          <p:cNvSpPr/>
          <p:nvPr/>
        </p:nvSpPr>
        <p:spPr>
          <a:xfrm>
            <a:off x="9125712" y="1828800"/>
            <a:ext cx="2578608" cy="2450592"/>
          </a:xfrm>
          <a:prstGeom prst="roundRect">
            <a:avLst>
              <a:gd name="adj" fmla="val 2985"/>
            </a:avLst>
          </a:prstGeom>
          <a:solidFill>
            <a:srgbClr val="0B2545"/>
          </a:solidFill>
          <a:ln w="9525">
            <a:solidFill>
              <a:srgbClr val="0B2545"/>
            </a:solidFill>
            <a:prstDash val="solid"/>
          </a:ln>
        </p:spPr>
      </p:sp>
      <p:sp>
        <p:nvSpPr>
          <p:cNvPr id="49" name="Text 47"/>
          <p:cNvSpPr txBox="1"/>
          <p:nvPr/>
        </p:nvSpPr>
        <p:spPr>
          <a:xfrm>
            <a:off x="9235440" y="1965960"/>
            <a:ext cx="2395728" cy="2240280"/>
          </a:xfrm>
          <a:prstGeom prst="rect">
            <a:avLst/>
          </a:prstGeom>
          <a:noFill/>
          <a:ln/>
        </p:spPr>
        <p:txBody>
          <a:bodyPr wrap="square" lIns="0" tIns="0" rIns="0" bIns="0" rtlCol="0" anchor="t"/>
          <a:lstStyle/>
          <a:p>
            <a:pPr indent="0" marL="0">
              <a:spcAft>
                <a:spcPts val="800"/>
              </a:spcAft>
              <a:buNone/>
            </a:pPr>
            <a:r>
              <a:rPr lang="en-US" sz="1600" b="1" dirty="0">
                <a:solidFill>
                  <a:srgbClr val="FFFFFF"/>
                </a:solidFill>
                <a:latin typeface="Calibri" pitchFamily="34" charset="0"/>
                <a:ea typeface="Calibri" pitchFamily="34" charset="-122"/>
                <a:cs typeface="Calibri" pitchFamily="34" charset="-120"/>
              </a:rPr>
              <a:t>ESP32</a:t>
            </a:r>
            <a:endParaRPr lang="en-US" sz="1400" dirty="0"/>
          </a:p>
          <a:p>
            <a:pPr marL="342900" indent="-342900">
              <a:spcAft>
                <a:spcPts val="800"/>
              </a:spcAft>
              <a:buSzPct val="100000"/>
              <a:buChar char="•"/>
            </a:pPr>
            <a:r>
              <a:rPr lang="en-US" sz="1400" dirty="0">
                <a:solidFill>
                  <a:srgbClr val="DCE6F0"/>
                </a:solidFill>
                <a:latin typeface="Calibri" pitchFamily="34" charset="0"/>
                <a:ea typeface="Calibri" pitchFamily="34" charset="-122"/>
                <a:cs typeface="Calibri" pitchFamily="34" charset="-120"/>
              </a:rPr>
              <a:t>timestamps &amp; calibration</a:t>
            </a:r>
            <a:endParaRPr lang="en-US" sz="1400" dirty="0"/>
          </a:p>
          <a:p>
            <a:pPr marL="342900" indent="-342900">
              <a:spcAft>
                <a:spcPts val="800"/>
              </a:spcAft>
              <a:buSzPct val="100000"/>
              <a:buChar char="•"/>
            </a:pPr>
            <a:r>
              <a:rPr lang="en-US" sz="1400" dirty="0">
                <a:solidFill>
                  <a:srgbClr val="DCE6F0"/>
                </a:solidFill>
                <a:latin typeface="Calibri" pitchFamily="34" charset="0"/>
                <a:ea typeface="Calibri" pitchFamily="34" charset="-122"/>
                <a:cs typeface="Calibri" pitchFamily="34" charset="-120"/>
              </a:rPr>
              <a:t>range / stale / jump checks</a:t>
            </a:r>
            <a:endParaRPr lang="en-US" sz="1400" dirty="0"/>
          </a:p>
          <a:p>
            <a:pPr marL="342900" indent="-342900">
              <a:spcAft>
                <a:spcPts val="800"/>
              </a:spcAft>
              <a:buSzPct val="100000"/>
              <a:buChar char="•"/>
            </a:pPr>
            <a:r>
              <a:rPr lang="en-US" sz="1400" dirty="0">
                <a:solidFill>
                  <a:srgbClr val="DCE6F0"/>
                </a:solidFill>
                <a:latin typeface="Calibri" pitchFamily="34" charset="0"/>
                <a:ea typeface="Calibri" pitchFamily="34" charset="-122"/>
                <a:cs typeface="Calibri" pitchFamily="34" charset="-120"/>
              </a:rPr>
              <a:t>compare with clean baseline</a:t>
            </a:r>
            <a:endParaRPr lang="en-US" sz="1400" dirty="0"/>
          </a:p>
          <a:p>
            <a:pPr marL="342900" indent="-342900">
              <a:spcAft>
                <a:spcPts val="800"/>
              </a:spcAft>
              <a:buSzPct val="100000"/>
              <a:buChar char="•"/>
            </a:pPr>
            <a:r>
              <a:rPr lang="en-US" sz="1400" dirty="0">
                <a:solidFill>
                  <a:srgbClr val="DCE6F0"/>
                </a:solidFill>
                <a:latin typeface="Calibri" pitchFamily="34" charset="0"/>
                <a:ea typeface="Calibri" pitchFamily="34" charset="-122"/>
                <a:cs typeface="Calibri" pitchFamily="34" charset="-120"/>
              </a:rPr>
              <a:t>persistence rules → state</a:t>
            </a:r>
            <a:endParaRPr lang="en-US" sz="1400" dirty="0"/>
          </a:p>
        </p:txBody>
      </p:sp>
      <p:sp>
        <p:nvSpPr>
          <p:cNvPr id="50" name="Shape 48"/>
          <p:cNvSpPr/>
          <p:nvPr/>
        </p:nvSpPr>
        <p:spPr>
          <a:xfrm>
            <a:off x="10415016" y="4297680"/>
            <a:ext cx="914" cy="274320"/>
          </a:xfrm>
          <a:prstGeom prst="line">
            <a:avLst/>
          </a:prstGeom>
          <a:noFill/>
          <a:ln w="22225">
            <a:solidFill>
              <a:srgbClr val="0B2545"/>
            </a:solidFill>
            <a:prstDash val="solid"/>
            <a:tailEnd type="triangle"/>
          </a:ln>
        </p:spPr>
      </p:sp>
      <p:sp>
        <p:nvSpPr>
          <p:cNvPr id="51" name="Shape 49"/>
          <p:cNvSpPr/>
          <p:nvPr/>
        </p:nvSpPr>
        <p:spPr>
          <a:xfrm>
            <a:off x="9125712" y="4590288"/>
            <a:ext cx="2578608" cy="658368"/>
          </a:xfrm>
          <a:prstGeom prst="roundRect">
            <a:avLst>
              <a:gd name="adj" fmla="val 11111"/>
            </a:avLst>
          </a:prstGeom>
          <a:solidFill>
            <a:srgbClr val="E3F4F5"/>
          </a:solidFill>
          <a:ln w="9525">
            <a:solidFill>
              <a:srgbClr val="0E8C99"/>
            </a:solidFill>
            <a:prstDash val="solid"/>
          </a:ln>
        </p:spPr>
      </p:sp>
      <p:sp>
        <p:nvSpPr>
          <p:cNvPr id="52" name="Text 50"/>
          <p:cNvSpPr txBox="1"/>
          <p:nvPr/>
        </p:nvSpPr>
        <p:spPr>
          <a:xfrm>
            <a:off x="9217152" y="4636008"/>
            <a:ext cx="2423160" cy="59436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State + raw log + alert</a:t>
            </a:r>
            <a:endParaRPr lang="en-US" sz="1300" dirty="0"/>
          </a:p>
          <a:p>
            <a:pPr indent="0" marL="0">
              <a:buNone/>
            </a:pPr>
            <a:r>
              <a:rPr lang="en-US" sz="1100" dirty="0">
                <a:solidFill>
                  <a:srgbClr val="5B6B7F"/>
                </a:solidFill>
                <a:latin typeface="Calibri" pitchFamily="34" charset="0"/>
                <a:ea typeface="Calibri" pitchFamily="34" charset="-122"/>
                <a:cs typeface="Calibri" pitchFamily="34" charset="-120"/>
              </a:rPr>
              <a:t>microSD / laptop · LED/buzzer · Wi-Fi optional</a:t>
            </a:r>
            <a:endParaRPr lang="en-US" sz="1300" dirty="0"/>
          </a:p>
        </p:txBody>
      </p:sp>
      <p:sp>
        <p:nvSpPr>
          <p:cNvPr id="53" name="Shape 51"/>
          <p:cNvSpPr/>
          <p:nvPr/>
        </p:nvSpPr>
        <p:spPr>
          <a:xfrm flipH="1">
            <a:off x="8778240" y="4919472"/>
            <a:ext cx="329184" cy="914"/>
          </a:xfrm>
          <a:prstGeom prst="line">
            <a:avLst/>
          </a:prstGeom>
          <a:noFill/>
          <a:ln w="22225">
            <a:solidFill>
              <a:srgbClr val="0B2545"/>
            </a:solidFill>
            <a:prstDash val="solid"/>
            <a:tailEnd type="triangle"/>
          </a:ln>
        </p:spPr>
      </p:sp>
      <p:sp>
        <p:nvSpPr>
          <p:cNvPr id="54" name="Shape 52"/>
          <p:cNvSpPr/>
          <p:nvPr/>
        </p:nvSpPr>
        <p:spPr>
          <a:xfrm>
            <a:off x="6309360" y="4590288"/>
            <a:ext cx="2450592" cy="658368"/>
          </a:xfrm>
          <a:prstGeom prst="roundRect">
            <a:avLst>
              <a:gd name="adj" fmla="val 11111"/>
            </a:avLst>
          </a:prstGeom>
          <a:solidFill>
            <a:srgbClr val="FCEBDD"/>
          </a:solidFill>
          <a:ln w="9525">
            <a:solidFill>
              <a:srgbClr val="E0702B"/>
            </a:solidFill>
            <a:prstDash val="solid"/>
          </a:ln>
        </p:spPr>
      </p:sp>
      <p:sp>
        <p:nvSpPr>
          <p:cNvPr id="55" name="Text 53"/>
          <p:cNvSpPr txBox="1"/>
          <p:nvPr/>
        </p:nvSpPr>
        <p:spPr>
          <a:xfrm>
            <a:off x="6400800" y="4636008"/>
            <a:ext cx="2286000" cy="594360"/>
          </a:xfrm>
          <a:prstGeom prst="rect">
            <a:avLst/>
          </a:prstGeom>
          <a:noFill/>
          <a:ln/>
        </p:spPr>
        <p:txBody>
          <a:bodyPr wrap="square" lIns="0" tIns="0" rIns="0" bIns="0" rtlCol="0" anchor="t"/>
          <a:lstStyle/>
          <a:p>
            <a:pPr indent="0" marL="0">
              <a:buNone/>
            </a:pPr>
            <a:r>
              <a:rPr lang="en-US" sz="1300" b="1" dirty="0">
                <a:solidFill>
                  <a:srgbClr val="8A3B0F"/>
                </a:solidFill>
                <a:latin typeface="Calibri" pitchFamily="34" charset="0"/>
                <a:ea typeface="Calibri" pitchFamily="34" charset="-122"/>
                <a:cs typeface="Calibri" pitchFamily="34" charset="-120"/>
              </a:rPr>
              <a:t>Human operator</a:t>
            </a:r>
            <a:endParaRPr lang="en-US" sz="1300" dirty="0"/>
          </a:p>
          <a:p>
            <a:pPr indent="0" marL="0">
              <a:buNone/>
            </a:pPr>
            <a:r>
              <a:rPr lang="en-US" sz="1100" dirty="0">
                <a:solidFill>
                  <a:srgbClr val="1F2D3D"/>
                </a:solidFill>
                <a:latin typeface="Calibri" pitchFamily="34" charset="0"/>
                <a:ea typeface="Calibri" pitchFamily="34" charset="-122"/>
                <a:cs typeface="Calibri" pitchFamily="34" charset="-120"/>
              </a:rPr>
              <a:t>reviews · crew inspects · verifies recovery</a:t>
            </a:r>
            <a:endParaRPr lang="en-US" sz="1300" dirty="0"/>
          </a:p>
        </p:txBody>
      </p:sp>
      <p:sp>
        <p:nvSpPr>
          <p:cNvPr id="56" name="Text 54"/>
          <p:cNvSpPr txBox="1"/>
          <p:nvPr/>
        </p:nvSpPr>
        <p:spPr>
          <a:xfrm>
            <a:off x="6309360" y="5394960"/>
            <a:ext cx="5394960" cy="54864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Bench design. Field version needs rated load path, enclosure, power and permission.</a:t>
            </a:r>
            <a:endParaRPr lang="en-US" sz="12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DECISION LOGIC &amp; RELIABILITY</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Evidence, not diagnosis: StarDust is allowed to say “uncertain”</a:t>
            </a:r>
            <a:endParaRPr lang="en-US" sz="2800" dirty="0"/>
          </a:p>
        </p:txBody>
      </p:sp>
      <p:sp>
        <p:nvSpPr>
          <p:cNvPr id="4" name="Shape 2"/>
          <p:cNvSpPr/>
          <p:nvPr/>
        </p:nvSpPr>
        <p:spPr>
          <a:xfrm>
            <a:off x="457200" y="1508760"/>
            <a:ext cx="2103120" cy="640080"/>
          </a:xfrm>
          <a:prstGeom prst="roundRect">
            <a:avLst>
              <a:gd name="adj" fmla="val 11429"/>
            </a:avLst>
          </a:prstGeom>
          <a:solidFill>
            <a:srgbClr val="F3F6F9"/>
          </a:solidFill>
          <a:ln w="9525">
            <a:solidFill>
              <a:srgbClr val="C9D3DD"/>
            </a:solidFill>
            <a:prstDash val="solid"/>
          </a:ln>
        </p:spPr>
      </p:sp>
      <p:sp>
        <p:nvSpPr>
          <p:cNvPr id="5" name="Text 3"/>
          <p:cNvSpPr txBox="1"/>
          <p:nvPr/>
        </p:nvSpPr>
        <p:spPr>
          <a:xfrm>
            <a:off x="530352" y="1508760"/>
            <a:ext cx="1956816" cy="6400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Read A, B, load</a:t>
            </a:r>
            <a:endParaRPr lang="en-US" sz="1300" dirty="0"/>
          </a:p>
          <a:p>
            <a:pPr algn="ctr" indent="0" marL="0">
              <a:buNone/>
            </a:pPr>
            <a:r>
              <a:rPr lang="en-US" sz="1300" b="1" dirty="0">
                <a:solidFill>
                  <a:srgbClr val="0B2545"/>
                </a:solidFill>
                <a:latin typeface="Calibri" pitchFamily="34" charset="0"/>
                <a:ea typeface="Calibri" pitchFamily="34" charset="-122"/>
                <a:cs typeface="Calibri" pitchFamily="34" charset="-120"/>
              </a:rPr>
              <a:t>+ calibrate</a:t>
            </a:r>
            <a:endParaRPr lang="en-US" sz="1300" dirty="0"/>
          </a:p>
        </p:txBody>
      </p:sp>
      <p:sp>
        <p:nvSpPr>
          <p:cNvPr id="6" name="Shape 4"/>
          <p:cNvSpPr/>
          <p:nvPr/>
        </p:nvSpPr>
        <p:spPr>
          <a:xfrm>
            <a:off x="2578608" y="1828800"/>
            <a:ext cx="393192" cy="914"/>
          </a:xfrm>
          <a:prstGeom prst="line">
            <a:avLst/>
          </a:prstGeom>
          <a:noFill/>
          <a:ln w="22225">
            <a:solidFill>
              <a:srgbClr val="0B2545"/>
            </a:solidFill>
            <a:prstDash val="solid"/>
            <a:tailEnd type="triangle"/>
          </a:ln>
        </p:spPr>
      </p:sp>
      <p:sp>
        <p:nvSpPr>
          <p:cNvPr id="7" name="Shape 5"/>
          <p:cNvSpPr/>
          <p:nvPr/>
        </p:nvSpPr>
        <p:spPr>
          <a:xfrm>
            <a:off x="2990088" y="1371600"/>
            <a:ext cx="1920240" cy="914400"/>
          </a:xfrm>
          <a:prstGeom prst="diamond">
            <a:avLst/>
          </a:prstGeom>
          <a:solidFill>
            <a:srgbClr val="FFFFFF"/>
          </a:solidFill>
          <a:ln w="19050">
            <a:solidFill>
              <a:srgbClr val="0B2545"/>
            </a:solidFill>
            <a:prstDash val="solid"/>
          </a:ln>
        </p:spPr>
      </p:sp>
      <p:sp>
        <p:nvSpPr>
          <p:cNvPr id="8" name="Text 6"/>
          <p:cNvSpPr txBox="1"/>
          <p:nvPr/>
        </p:nvSpPr>
        <p:spPr>
          <a:xfrm>
            <a:off x="3127248" y="1371600"/>
            <a:ext cx="1645920" cy="91440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Data valid?</a:t>
            </a:r>
            <a:endParaRPr lang="en-US" sz="1200" dirty="0"/>
          </a:p>
        </p:txBody>
      </p:sp>
      <p:sp>
        <p:nvSpPr>
          <p:cNvPr id="9" name="Shape 7"/>
          <p:cNvSpPr/>
          <p:nvPr/>
        </p:nvSpPr>
        <p:spPr>
          <a:xfrm>
            <a:off x="4928616" y="1828800"/>
            <a:ext cx="420624" cy="914"/>
          </a:xfrm>
          <a:prstGeom prst="line">
            <a:avLst/>
          </a:prstGeom>
          <a:noFill/>
          <a:ln w="22225">
            <a:solidFill>
              <a:srgbClr val="0B2545"/>
            </a:solidFill>
            <a:prstDash val="solid"/>
            <a:tailEnd type="triangle"/>
          </a:ln>
        </p:spPr>
      </p:sp>
      <p:sp>
        <p:nvSpPr>
          <p:cNvPr id="10" name="Text 8"/>
          <p:cNvSpPr txBox="1"/>
          <p:nvPr/>
        </p:nvSpPr>
        <p:spPr>
          <a:xfrm>
            <a:off x="4937760" y="1554480"/>
            <a:ext cx="411480" cy="228600"/>
          </a:xfrm>
          <a:prstGeom prst="rect">
            <a:avLst/>
          </a:prstGeom>
          <a:noFill/>
          <a:ln/>
        </p:spPr>
        <p:txBody>
          <a:bodyPr wrap="square" lIns="0" tIns="0" rIns="0" bIns="0" rtlCol="0" anchor="t"/>
          <a:lstStyle/>
          <a:p>
            <a:pPr indent="0" marL="0">
              <a:buNone/>
            </a:pPr>
            <a:r>
              <a:rPr lang="en-US" sz="1100" b="1" dirty="0">
                <a:solidFill>
                  <a:srgbClr val="2E8B57"/>
                </a:solidFill>
                <a:latin typeface="Calibri" pitchFamily="34" charset="0"/>
                <a:ea typeface="Calibri" pitchFamily="34" charset="-122"/>
                <a:cs typeface="Calibri" pitchFamily="34" charset="-120"/>
              </a:rPr>
              <a:t>yes</a:t>
            </a:r>
            <a:endParaRPr lang="en-US" sz="1100" dirty="0"/>
          </a:p>
        </p:txBody>
      </p:sp>
      <p:sp>
        <p:nvSpPr>
          <p:cNvPr id="11" name="Shape 9"/>
          <p:cNvSpPr/>
          <p:nvPr/>
        </p:nvSpPr>
        <p:spPr>
          <a:xfrm>
            <a:off x="5367528" y="1371600"/>
            <a:ext cx="2103120" cy="914400"/>
          </a:xfrm>
          <a:prstGeom prst="diamond">
            <a:avLst/>
          </a:prstGeom>
          <a:solidFill>
            <a:srgbClr val="FFFFFF"/>
          </a:solidFill>
          <a:ln w="19050">
            <a:solidFill>
              <a:srgbClr val="0B2545"/>
            </a:solidFill>
            <a:prstDash val="solid"/>
          </a:ln>
        </p:spPr>
      </p:sp>
      <p:sp>
        <p:nvSpPr>
          <p:cNvPr id="12" name="Text 10"/>
          <p:cNvSpPr txBox="1"/>
          <p:nvPr/>
        </p:nvSpPr>
        <p:spPr>
          <a:xfrm>
            <a:off x="5504688" y="1371600"/>
            <a:ext cx="1828800" cy="91440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Inside tested conditions?</a:t>
            </a:r>
            <a:endParaRPr lang="en-US" sz="1200" dirty="0"/>
          </a:p>
        </p:txBody>
      </p:sp>
      <p:sp>
        <p:nvSpPr>
          <p:cNvPr id="13" name="Shape 11"/>
          <p:cNvSpPr/>
          <p:nvPr/>
        </p:nvSpPr>
        <p:spPr>
          <a:xfrm>
            <a:off x="7488936" y="1828800"/>
            <a:ext cx="374904" cy="914"/>
          </a:xfrm>
          <a:prstGeom prst="line">
            <a:avLst/>
          </a:prstGeom>
          <a:noFill/>
          <a:ln w="22225">
            <a:solidFill>
              <a:srgbClr val="0B2545"/>
            </a:solidFill>
            <a:prstDash val="solid"/>
            <a:tailEnd type="triangle"/>
          </a:ln>
        </p:spPr>
      </p:sp>
      <p:sp>
        <p:nvSpPr>
          <p:cNvPr id="14" name="Text 12"/>
          <p:cNvSpPr txBox="1"/>
          <p:nvPr/>
        </p:nvSpPr>
        <p:spPr>
          <a:xfrm>
            <a:off x="7498080" y="1554480"/>
            <a:ext cx="411480" cy="228600"/>
          </a:xfrm>
          <a:prstGeom prst="rect">
            <a:avLst/>
          </a:prstGeom>
          <a:noFill/>
          <a:ln/>
        </p:spPr>
        <p:txBody>
          <a:bodyPr wrap="square" lIns="0" tIns="0" rIns="0" bIns="0" rtlCol="0" anchor="t"/>
          <a:lstStyle/>
          <a:p>
            <a:pPr indent="0" marL="0">
              <a:buNone/>
            </a:pPr>
            <a:r>
              <a:rPr lang="en-US" sz="1100" b="1" dirty="0">
                <a:solidFill>
                  <a:srgbClr val="2E8B57"/>
                </a:solidFill>
                <a:latin typeface="Calibri" pitchFamily="34" charset="0"/>
                <a:ea typeface="Calibri" pitchFamily="34" charset="-122"/>
                <a:cs typeface="Calibri" pitchFamily="34" charset="-120"/>
              </a:rPr>
              <a:t>yes</a:t>
            </a:r>
            <a:endParaRPr lang="en-US" sz="1100" dirty="0"/>
          </a:p>
        </p:txBody>
      </p:sp>
      <p:sp>
        <p:nvSpPr>
          <p:cNvPr id="15" name="Shape 13"/>
          <p:cNvSpPr/>
          <p:nvPr/>
        </p:nvSpPr>
        <p:spPr>
          <a:xfrm>
            <a:off x="7882128" y="1508760"/>
            <a:ext cx="2194560" cy="640080"/>
          </a:xfrm>
          <a:prstGeom prst="roundRect">
            <a:avLst>
              <a:gd name="adj" fmla="val 11429"/>
            </a:avLst>
          </a:prstGeom>
          <a:solidFill>
            <a:srgbClr val="F3F6F9"/>
          </a:solidFill>
          <a:ln w="9525">
            <a:solidFill>
              <a:srgbClr val="C9D3DD"/>
            </a:solidFill>
            <a:prstDash val="solid"/>
          </a:ln>
        </p:spPr>
      </p:sp>
      <p:sp>
        <p:nvSpPr>
          <p:cNvPr id="16" name="Text 14"/>
          <p:cNvSpPr txBox="1"/>
          <p:nvPr/>
        </p:nvSpPr>
        <p:spPr>
          <a:xfrm>
            <a:off x="7955280" y="1508760"/>
            <a:ext cx="2048256" cy="6400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Compare to baseline</a:t>
            </a:r>
            <a:endParaRPr lang="en-US" sz="1300" dirty="0"/>
          </a:p>
          <a:p>
            <a:pPr algn="ctr" indent="0" marL="0">
              <a:buNone/>
            </a:pPr>
            <a:r>
              <a:rPr lang="en-US" sz="1300" b="1" dirty="0">
                <a:solidFill>
                  <a:srgbClr val="0B2545"/>
                </a:solidFill>
                <a:latin typeface="Calibri" pitchFamily="34" charset="0"/>
                <a:ea typeface="Calibri" pitchFamily="34" charset="-122"/>
                <a:cs typeface="Calibri" pitchFamily="34" charset="-120"/>
              </a:rPr>
              <a:t>+ persistence</a:t>
            </a:r>
            <a:endParaRPr lang="en-US" sz="1300" dirty="0"/>
          </a:p>
        </p:txBody>
      </p:sp>
      <p:sp>
        <p:nvSpPr>
          <p:cNvPr id="17" name="Shape 15"/>
          <p:cNvSpPr/>
          <p:nvPr/>
        </p:nvSpPr>
        <p:spPr>
          <a:xfrm>
            <a:off x="3950208" y="2304288"/>
            <a:ext cx="914" cy="438912"/>
          </a:xfrm>
          <a:prstGeom prst="line">
            <a:avLst/>
          </a:prstGeom>
          <a:noFill/>
          <a:ln w="22225">
            <a:solidFill>
              <a:srgbClr val="B83A3A"/>
            </a:solidFill>
            <a:prstDash val="solid"/>
            <a:tailEnd type="triangle"/>
          </a:ln>
        </p:spPr>
      </p:sp>
      <p:sp>
        <p:nvSpPr>
          <p:cNvPr id="18" name="Text 16"/>
          <p:cNvSpPr txBox="1"/>
          <p:nvPr/>
        </p:nvSpPr>
        <p:spPr>
          <a:xfrm>
            <a:off x="4023360" y="2331720"/>
            <a:ext cx="365760" cy="228600"/>
          </a:xfrm>
          <a:prstGeom prst="rect">
            <a:avLst/>
          </a:prstGeom>
          <a:noFill/>
          <a:ln/>
        </p:spPr>
        <p:txBody>
          <a:bodyPr wrap="square" lIns="0" tIns="0" rIns="0" bIns="0" rtlCol="0" anchor="t"/>
          <a:lstStyle/>
          <a:p>
            <a:pPr indent="0" marL="0">
              <a:buNone/>
            </a:pPr>
            <a:r>
              <a:rPr lang="en-US" sz="1100" b="1" dirty="0">
                <a:solidFill>
                  <a:srgbClr val="B83A3A"/>
                </a:solidFill>
                <a:latin typeface="Calibri" pitchFamily="34" charset="0"/>
                <a:ea typeface="Calibri" pitchFamily="34" charset="-122"/>
                <a:cs typeface="Calibri" pitchFamily="34" charset="-120"/>
              </a:rPr>
              <a:t>no</a:t>
            </a:r>
            <a:endParaRPr lang="en-US" sz="1100" dirty="0"/>
          </a:p>
        </p:txBody>
      </p:sp>
      <p:sp>
        <p:nvSpPr>
          <p:cNvPr id="19" name="Shape 17"/>
          <p:cNvSpPr/>
          <p:nvPr/>
        </p:nvSpPr>
        <p:spPr>
          <a:xfrm>
            <a:off x="3081528" y="2761488"/>
            <a:ext cx="1737360" cy="548640"/>
          </a:xfrm>
          <a:prstGeom prst="roundRect">
            <a:avLst>
              <a:gd name="adj" fmla="val 13333"/>
            </a:avLst>
          </a:prstGeom>
          <a:solidFill>
            <a:srgbClr val="F8E3E3"/>
          </a:solidFill>
          <a:ln w="9525">
            <a:solidFill>
              <a:srgbClr val="B83A3A"/>
            </a:solidFill>
            <a:prstDash val="solid"/>
          </a:ln>
        </p:spPr>
      </p:sp>
      <p:sp>
        <p:nvSpPr>
          <p:cNvPr id="20" name="Text 18"/>
          <p:cNvSpPr txBox="1"/>
          <p:nvPr/>
        </p:nvSpPr>
        <p:spPr>
          <a:xfrm>
            <a:off x="3154680" y="2761488"/>
            <a:ext cx="1591056" cy="548640"/>
          </a:xfrm>
          <a:prstGeom prst="rect">
            <a:avLst/>
          </a:prstGeom>
          <a:noFill/>
          <a:ln/>
        </p:spPr>
        <p:txBody>
          <a:bodyPr wrap="square" lIns="0" tIns="0" rIns="0" bIns="0" rtlCol="0" anchor="ctr"/>
          <a:lstStyle/>
          <a:p>
            <a:pPr algn="ctr" indent="0" marL="0">
              <a:buNone/>
            </a:pPr>
            <a:r>
              <a:rPr lang="en-US" sz="1500" b="1" dirty="0">
                <a:solidFill>
                  <a:srgbClr val="B83A3A"/>
                </a:solidFill>
                <a:latin typeface="Calibri" pitchFamily="34" charset="0"/>
                <a:ea typeface="Calibri" pitchFamily="34" charset="-122"/>
                <a:cs typeface="Calibri" pitchFamily="34" charset="-120"/>
              </a:rPr>
              <a:t>FAULT</a:t>
            </a:r>
            <a:endParaRPr lang="en-US" sz="1500" dirty="0"/>
          </a:p>
        </p:txBody>
      </p:sp>
      <p:sp>
        <p:nvSpPr>
          <p:cNvPr id="21" name="Shape 19"/>
          <p:cNvSpPr/>
          <p:nvPr/>
        </p:nvSpPr>
        <p:spPr>
          <a:xfrm>
            <a:off x="6419088" y="2304288"/>
            <a:ext cx="914" cy="438912"/>
          </a:xfrm>
          <a:prstGeom prst="line">
            <a:avLst/>
          </a:prstGeom>
          <a:noFill/>
          <a:ln w="22225">
            <a:solidFill>
              <a:srgbClr val="5B4B9A"/>
            </a:solidFill>
            <a:prstDash val="solid"/>
            <a:tailEnd type="triangle"/>
          </a:ln>
        </p:spPr>
      </p:sp>
      <p:sp>
        <p:nvSpPr>
          <p:cNvPr id="22" name="Text 20"/>
          <p:cNvSpPr txBox="1"/>
          <p:nvPr/>
        </p:nvSpPr>
        <p:spPr>
          <a:xfrm>
            <a:off x="6492240" y="2331720"/>
            <a:ext cx="365760" cy="228600"/>
          </a:xfrm>
          <a:prstGeom prst="rect">
            <a:avLst/>
          </a:prstGeom>
          <a:noFill/>
          <a:ln/>
        </p:spPr>
        <p:txBody>
          <a:bodyPr wrap="square" lIns="0" tIns="0" rIns="0" bIns="0" rtlCol="0" anchor="t"/>
          <a:lstStyle/>
          <a:p>
            <a:pPr indent="0" marL="0">
              <a:buNone/>
            </a:pPr>
            <a:r>
              <a:rPr lang="en-US" sz="1100" b="1" dirty="0">
                <a:solidFill>
                  <a:srgbClr val="5B4B9A"/>
                </a:solidFill>
                <a:latin typeface="Calibri" pitchFamily="34" charset="0"/>
                <a:ea typeface="Calibri" pitchFamily="34" charset="-122"/>
                <a:cs typeface="Calibri" pitchFamily="34" charset="-120"/>
              </a:rPr>
              <a:t>no</a:t>
            </a:r>
            <a:endParaRPr lang="en-US" sz="1100" dirty="0"/>
          </a:p>
        </p:txBody>
      </p:sp>
      <p:sp>
        <p:nvSpPr>
          <p:cNvPr id="23" name="Shape 21"/>
          <p:cNvSpPr/>
          <p:nvPr/>
        </p:nvSpPr>
        <p:spPr>
          <a:xfrm>
            <a:off x="5504688" y="2761488"/>
            <a:ext cx="1828800" cy="548640"/>
          </a:xfrm>
          <a:prstGeom prst="roundRect">
            <a:avLst>
              <a:gd name="adj" fmla="val 13333"/>
            </a:avLst>
          </a:prstGeom>
          <a:solidFill>
            <a:srgbClr val="ECE9F6"/>
          </a:solidFill>
          <a:ln w="9525">
            <a:solidFill>
              <a:srgbClr val="5B4B9A"/>
            </a:solidFill>
            <a:prstDash val="solid"/>
          </a:ln>
        </p:spPr>
      </p:sp>
      <p:sp>
        <p:nvSpPr>
          <p:cNvPr id="24" name="Text 22"/>
          <p:cNvSpPr txBox="1"/>
          <p:nvPr/>
        </p:nvSpPr>
        <p:spPr>
          <a:xfrm>
            <a:off x="5577840" y="2761488"/>
            <a:ext cx="1682496" cy="548640"/>
          </a:xfrm>
          <a:prstGeom prst="rect">
            <a:avLst/>
          </a:prstGeom>
          <a:noFill/>
          <a:ln/>
        </p:spPr>
        <p:txBody>
          <a:bodyPr wrap="square" lIns="0" tIns="0" rIns="0" bIns="0" rtlCol="0" anchor="ctr"/>
          <a:lstStyle/>
          <a:p>
            <a:pPr algn="ctr" indent="0" marL="0">
              <a:buNone/>
            </a:pPr>
            <a:r>
              <a:rPr lang="en-US" sz="1500" b="1" dirty="0">
                <a:solidFill>
                  <a:srgbClr val="5B4B9A"/>
                </a:solidFill>
                <a:latin typeface="Calibri" pitchFamily="34" charset="0"/>
                <a:ea typeface="Calibri" pitchFamily="34" charset="-122"/>
                <a:cs typeface="Calibri" pitchFamily="34" charset="-120"/>
              </a:rPr>
              <a:t>UNCERTAIN</a:t>
            </a:r>
            <a:endParaRPr lang="en-US" sz="1500" dirty="0"/>
          </a:p>
        </p:txBody>
      </p:sp>
      <p:sp>
        <p:nvSpPr>
          <p:cNvPr id="25" name="Shape 23"/>
          <p:cNvSpPr/>
          <p:nvPr/>
        </p:nvSpPr>
        <p:spPr>
          <a:xfrm>
            <a:off x="8979408" y="2167128"/>
            <a:ext cx="914" cy="438912"/>
          </a:xfrm>
          <a:prstGeom prst="line">
            <a:avLst/>
          </a:prstGeom>
          <a:noFill/>
          <a:ln w="22225">
            <a:solidFill>
              <a:srgbClr val="0B2545"/>
            </a:solidFill>
            <a:prstDash val="solid"/>
            <a:tailEnd type="triangle"/>
          </a:ln>
        </p:spPr>
      </p:sp>
      <p:sp>
        <p:nvSpPr>
          <p:cNvPr id="26" name="Shape 24"/>
          <p:cNvSpPr/>
          <p:nvPr/>
        </p:nvSpPr>
        <p:spPr>
          <a:xfrm>
            <a:off x="7882128" y="2624328"/>
            <a:ext cx="2194560" cy="457200"/>
          </a:xfrm>
          <a:prstGeom prst="roundRect">
            <a:avLst>
              <a:gd name="adj" fmla="val 16000"/>
            </a:avLst>
          </a:prstGeom>
          <a:solidFill>
            <a:srgbClr val="E4F3EA"/>
          </a:solidFill>
          <a:ln w="9525">
            <a:solidFill>
              <a:srgbClr val="2E8B57"/>
            </a:solidFill>
            <a:prstDash val="solid"/>
          </a:ln>
        </p:spPr>
      </p:sp>
      <p:sp>
        <p:nvSpPr>
          <p:cNvPr id="27" name="Text 25"/>
          <p:cNvSpPr txBox="1"/>
          <p:nvPr/>
        </p:nvSpPr>
        <p:spPr>
          <a:xfrm>
            <a:off x="7955280" y="2624328"/>
            <a:ext cx="2048256" cy="457200"/>
          </a:xfrm>
          <a:prstGeom prst="rect">
            <a:avLst/>
          </a:prstGeom>
          <a:noFill/>
          <a:ln/>
        </p:spPr>
        <p:txBody>
          <a:bodyPr wrap="square" lIns="0" tIns="0" rIns="0" bIns="0" rtlCol="0" anchor="ctr"/>
          <a:lstStyle/>
          <a:p>
            <a:pPr algn="ctr" indent="0" marL="0">
              <a:buNone/>
            </a:pPr>
            <a:r>
              <a:rPr lang="en-US" sz="1400" b="1" dirty="0">
                <a:solidFill>
                  <a:srgbClr val="2E8B57"/>
                </a:solidFill>
                <a:latin typeface="Calibri" pitchFamily="34" charset="0"/>
                <a:ea typeface="Calibri" pitchFamily="34" charset="-122"/>
                <a:cs typeface="Calibri" pitchFamily="34" charset="-120"/>
              </a:rPr>
              <a:t>NORMAL</a:t>
            </a:r>
            <a:endParaRPr lang="en-US" sz="1400" dirty="0"/>
          </a:p>
        </p:txBody>
      </p:sp>
      <p:sp>
        <p:nvSpPr>
          <p:cNvPr id="28" name="Shape 26"/>
          <p:cNvSpPr/>
          <p:nvPr/>
        </p:nvSpPr>
        <p:spPr>
          <a:xfrm>
            <a:off x="7882128" y="3154680"/>
            <a:ext cx="2194560" cy="457200"/>
          </a:xfrm>
          <a:prstGeom prst="roundRect">
            <a:avLst>
              <a:gd name="adj" fmla="val 16000"/>
            </a:avLst>
          </a:prstGeom>
          <a:solidFill>
            <a:srgbClr val="FFF4D6"/>
          </a:solidFill>
          <a:ln w="9525">
            <a:solidFill>
              <a:srgbClr val="D9A400"/>
            </a:solidFill>
            <a:prstDash val="solid"/>
          </a:ln>
        </p:spPr>
      </p:sp>
      <p:sp>
        <p:nvSpPr>
          <p:cNvPr id="29" name="Text 27"/>
          <p:cNvSpPr txBox="1"/>
          <p:nvPr/>
        </p:nvSpPr>
        <p:spPr>
          <a:xfrm>
            <a:off x="7955280" y="3154680"/>
            <a:ext cx="2048256" cy="457200"/>
          </a:xfrm>
          <a:prstGeom prst="rect">
            <a:avLst/>
          </a:prstGeom>
          <a:noFill/>
          <a:ln/>
        </p:spPr>
        <p:txBody>
          <a:bodyPr wrap="square" lIns="0" tIns="0" rIns="0" bIns="0" rtlCol="0" anchor="ctr"/>
          <a:lstStyle/>
          <a:p>
            <a:pPr algn="ctr" indent="0" marL="0">
              <a:buNone/>
            </a:pPr>
            <a:r>
              <a:rPr lang="en-US" sz="1400" b="1" dirty="0">
                <a:solidFill>
                  <a:srgbClr val="8A6A00"/>
                </a:solidFill>
                <a:latin typeface="Calibri" pitchFamily="34" charset="0"/>
                <a:ea typeface="Calibri" pitchFamily="34" charset="-122"/>
                <a:cs typeface="Calibri" pitchFamily="34" charset="-120"/>
              </a:rPr>
              <a:t>WATCH</a:t>
            </a:r>
            <a:endParaRPr lang="en-US" sz="1400" dirty="0"/>
          </a:p>
        </p:txBody>
      </p:sp>
      <p:sp>
        <p:nvSpPr>
          <p:cNvPr id="30" name="Shape 28"/>
          <p:cNvSpPr/>
          <p:nvPr/>
        </p:nvSpPr>
        <p:spPr>
          <a:xfrm>
            <a:off x="7882128" y="3685032"/>
            <a:ext cx="2194560" cy="548640"/>
          </a:xfrm>
          <a:prstGeom prst="roundRect">
            <a:avLst>
              <a:gd name="adj" fmla="val 13333"/>
            </a:avLst>
          </a:prstGeom>
          <a:solidFill>
            <a:srgbClr val="E0702B"/>
          </a:solidFill>
          <a:ln w="9525">
            <a:solidFill>
              <a:srgbClr val="E0702B"/>
            </a:solidFill>
            <a:prstDash val="solid"/>
          </a:ln>
        </p:spPr>
      </p:sp>
      <p:sp>
        <p:nvSpPr>
          <p:cNvPr id="31" name="Text 29"/>
          <p:cNvSpPr txBox="1"/>
          <p:nvPr/>
        </p:nvSpPr>
        <p:spPr>
          <a:xfrm>
            <a:off x="7955280" y="3685032"/>
            <a:ext cx="2048256"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INSPECTION REQUEST</a:t>
            </a:r>
            <a:endParaRPr lang="en-US" sz="1400" dirty="0"/>
          </a:p>
        </p:txBody>
      </p:sp>
      <p:sp>
        <p:nvSpPr>
          <p:cNvPr id="32" name="Text 30"/>
          <p:cNvSpPr txBox="1"/>
          <p:nvPr/>
        </p:nvSpPr>
        <p:spPr>
          <a:xfrm>
            <a:off x="10149840" y="3200400"/>
            <a:ext cx="1600200" cy="36576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one signal shifts</a:t>
            </a:r>
            <a:endParaRPr lang="en-US" sz="1100" dirty="0"/>
          </a:p>
        </p:txBody>
      </p:sp>
      <p:sp>
        <p:nvSpPr>
          <p:cNvPr id="33" name="Text 31"/>
          <p:cNvSpPr txBox="1"/>
          <p:nvPr/>
        </p:nvSpPr>
        <p:spPr>
          <a:xfrm>
            <a:off x="10149840" y="3685032"/>
            <a:ext cx="1600200" cy="54864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both valid signals, sustained change</a:t>
            </a:r>
            <a:endParaRPr lang="en-US" sz="1100" dirty="0"/>
          </a:p>
        </p:txBody>
      </p:sp>
      <p:sp>
        <p:nvSpPr>
          <p:cNvPr id="34" name="Text 32"/>
          <p:cNvSpPr txBox="1"/>
          <p:nvPr/>
        </p:nvSpPr>
        <p:spPr>
          <a:xfrm>
            <a:off x="10149840" y="2670048"/>
            <a:ext cx="1600200" cy="365760"/>
          </a:xfrm>
          <a:prstGeom prst="rect">
            <a:avLst/>
          </a:prstGeom>
          <a:noFill/>
          <a:ln/>
        </p:spPr>
        <p:txBody>
          <a:bodyPr wrap="square" lIns="0" tIns="0" rIns="0" bIns="0" rtlCol="0" anchor="t"/>
          <a:lstStyle/>
          <a:p>
            <a:pPr indent="0" marL="0">
              <a:buNone/>
            </a:pPr>
            <a:r>
              <a:rPr lang="en-US" sz="1100" dirty="0">
                <a:solidFill>
                  <a:srgbClr val="5B6B7F"/>
                </a:solidFill>
                <a:latin typeface="Calibri" pitchFamily="34" charset="0"/>
                <a:ea typeface="Calibri" pitchFamily="34" charset="-122"/>
                <a:cs typeface="Calibri" pitchFamily="34" charset="-120"/>
              </a:rPr>
              <a:t>near baseline</a:t>
            </a:r>
            <a:endParaRPr lang="en-US" sz="1100" dirty="0"/>
          </a:p>
        </p:txBody>
      </p:sp>
      <p:sp>
        <p:nvSpPr>
          <p:cNvPr id="35" name="Shape 33"/>
          <p:cNvSpPr/>
          <p:nvPr/>
        </p:nvSpPr>
        <p:spPr>
          <a:xfrm>
            <a:off x="457200" y="3566160"/>
            <a:ext cx="6903720" cy="685800"/>
          </a:xfrm>
          <a:prstGeom prst="roundRect">
            <a:avLst>
              <a:gd name="adj" fmla="val 10667"/>
            </a:avLst>
          </a:prstGeom>
          <a:solidFill>
            <a:srgbClr val="FFFFFF"/>
          </a:solidFill>
          <a:ln w="19050">
            <a:solidFill>
              <a:srgbClr val="E0702B"/>
            </a:solidFill>
            <a:prstDash val="solid"/>
          </a:ln>
        </p:spPr>
      </p:sp>
      <p:sp>
        <p:nvSpPr>
          <p:cNvPr id="36" name="Text 34"/>
          <p:cNvSpPr txBox="1"/>
          <p:nvPr/>
        </p:nvSpPr>
        <p:spPr>
          <a:xfrm>
            <a:off x="594360" y="3593592"/>
            <a:ext cx="6675120" cy="640080"/>
          </a:xfrm>
          <a:prstGeom prst="rect">
            <a:avLst/>
          </a:prstGeom>
          <a:noFill/>
          <a:ln/>
        </p:spPr>
        <p:txBody>
          <a:bodyPr wrap="square" lIns="0" tIns="0" rIns="0" bIns="0" rtlCol="0" anchor="ctr"/>
          <a:lstStyle/>
          <a:p>
            <a:pPr indent="0" marL="0">
              <a:buNone/>
            </a:pPr>
            <a:r>
              <a:rPr lang="en-US" sz="1300" b="1" dirty="0">
                <a:solidFill>
                  <a:srgbClr val="E0702B"/>
                </a:solidFill>
                <a:latin typeface="Calibri" pitchFamily="34" charset="0"/>
                <a:ea typeface="Calibri" pitchFamily="34" charset="-122"/>
                <a:cs typeface="Calibri" pitchFamily="34" charset="-120"/>
              </a:rPr>
              <a:t>Independent lane: </a:t>
            </a:r>
            <a:pPr indent="0" marL="0">
              <a:buNone/>
            </a:pPr>
            <a:r>
              <a:rPr lang="en-US" sz="1300" dirty="0">
                <a:solidFill>
                  <a:srgbClr val="1F2D3D"/>
                </a:solidFill>
                <a:latin typeface="Calibri" pitchFamily="34" charset="0"/>
                <a:ea typeface="Calibri" pitchFamily="34" charset="-122"/>
                <a:cs typeface="Calibri" pitchFamily="34" charset="-120"/>
              </a:rPr>
              <a:t>a valid high-water OR high-load limit raises its own warning — even if the other sensor is faulty. A broken sensor never silences a good one.</a:t>
            </a:r>
            <a:endParaRPr lang="en-US" sz="1300" dirty="0"/>
          </a:p>
        </p:txBody>
      </p:sp>
      <p:sp>
        <p:nvSpPr>
          <p:cNvPr id="37" name="Shape 35"/>
          <p:cNvSpPr/>
          <p:nvPr/>
        </p:nvSpPr>
        <p:spPr>
          <a:xfrm>
            <a:off x="457200" y="4526280"/>
            <a:ext cx="6903720" cy="1508760"/>
          </a:xfrm>
          <a:prstGeom prst="roundRect">
            <a:avLst>
              <a:gd name="adj" fmla="val 4848"/>
            </a:avLst>
          </a:prstGeom>
          <a:solidFill>
            <a:srgbClr val="F3F6F9"/>
          </a:solidFill>
          <a:ln w="9525">
            <a:solidFill>
              <a:srgbClr val="F3F6F9"/>
            </a:solidFill>
            <a:prstDash val="solid"/>
          </a:ln>
        </p:spPr>
      </p:sp>
      <p:sp>
        <p:nvSpPr>
          <p:cNvPr id="38" name="Text 36"/>
          <p:cNvSpPr txBox="1"/>
          <p:nvPr/>
        </p:nvSpPr>
        <p:spPr>
          <a:xfrm>
            <a:off x="640080" y="4590288"/>
            <a:ext cx="6583680" cy="274320"/>
          </a:xfrm>
          <a:prstGeom prst="rect">
            <a:avLst/>
          </a:prstGeom>
          <a:noFill/>
          <a:ln/>
        </p:spPr>
        <p:txBody>
          <a:bodyPr wrap="square" lIns="0" tIns="0" rIns="0" bIns="0" rtlCol="0" anchor="t"/>
          <a:lstStyle/>
          <a:p>
            <a:pPr indent="0" marL="0">
              <a:buNone/>
            </a:pPr>
            <a:r>
              <a:rPr lang="en-US" sz="1300" b="1" dirty="0">
                <a:solidFill>
                  <a:srgbClr val="0B2545"/>
                </a:solidFill>
                <a:latin typeface="Calibri" pitchFamily="34" charset="0"/>
                <a:ea typeface="Calibri" pitchFamily="34" charset="-122"/>
                <a:cs typeface="Calibri" pitchFamily="34" charset="-120"/>
              </a:rPr>
              <a:t>Why one signal can mislead (illustrative, not measured)</a:t>
            </a:r>
            <a:endParaRPr lang="en-US" sz="1300" dirty="0"/>
          </a:p>
        </p:txBody>
      </p:sp>
      <p:sp>
        <p:nvSpPr>
          <p:cNvPr id="39" name="Text 37"/>
          <p:cNvSpPr txBox="1"/>
          <p:nvPr/>
        </p:nvSpPr>
        <p:spPr>
          <a:xfrm>
            <a:off x="640080" y="4892040"/>
            <a:ext cx="6583680" cy="1097280"/>
          </a:xfrm>
          <a:prstGeom prst="rect">
            <a:avLst/>
          </a:prstGeom>
          <a:noFill/>
          <a:ln/>
        </p:spPr>
        <p:txBody>
          <a:bodyPr wrap="square" lIns="0" tIns="0" rIns="0" bIns="0" rtlCol="0" anchor="t"/>
          <a:lstStyle/>
          <a:p>
            <a:pPr indent="0" marL="0">
              <a:spcAft>
                <a:spcPts val="300"/>
              </a:spcAft>
              <a:buNone/>
            </a:pPr>
            <a:r>
              <a:rPr lang="en-US" sz="1300" b="1" dirty="0">
                <a:solidFill>
                  <a:srgbClr val="5B4B9A"/>
                </a:solidFill>
                <a:latin typeface="Calibri" pitchFamily="34" charset="0"/>
                <a:ea typeface="Calibri" pitchFamily="34" charset="-122"/>
                <a:cs typeface="Calibri" pitchFamily="34" charset="-120"/>
              </a:rPr>
              <a:t>Flow surge, clean boom: </a:t>
            </a:r>
            <a:pPr indent="0" marL="0">
              <a:spcAft>
                <a:spcPts val="300"/>
              </a:spcAft>
              <a:buNone/>
            </a:pPr>
            <a:r>
              <a:rPr lang="en-US" sz="1300" dirty="0">
                <a:solidFill>
                  <a:srgbClr val="1F2D3D"/>
                </a:solidFill>
                <a:latin typeface="Calibri" pitchFamily="34" charset="0"/>
                <a:ea typeface="Calibri" pitchFamily="34" charset="-122"/>
                <a:cs typeface="Calibri" pitchFamily="34" charset="-120"/>
              </a:rPr>
              <a:t>tension rises, Δh barely moves → WATCH, not inspection.</a:t>
            </a:r>
            <a:endParaRPr lang="en-US" sz="1300" dirty="0"/>
          </a:p>
          <a:p>
            <a:pPr indent="0" marL="0">
              <a:spcAft>
                <a:spcPts val="300"/>
              </a:spcAft>
              <a:buNone/>
            </a:pPr>
            <a:r>
              <a:rPr lang="en-US" sz="1300" b="1" dirty="0">
                <a:solidFill>
                  <a:srgbClr val="5B4B9A"/>
                </a:solidFill>
                <a:latin typeface="Calibri" pitchFamily="34" charset="0"/>
                <a:ea typeface="Calibri" pitchFamily="34" charset="-122"/>
                <a:cs typeface="Calibri" pitchFamily="34" charset="-120"/>
              </a:rPr>
              <a:t>High tide / backwater: </a:t>
            </a:r>
            <a:pPr indent="0" marL="0">
              <a:spcAft>
                <a:spcPts val="300"/>
              </a:spcAft>
              <a:buNone/>
            </a:pPr>
            <a:r>
              <a:rPr lang="en-US" sz="1300" dirty="0">
                <a:solidFill>
                  <a:srgbClr val="1F2D3D"/>
                </a:solidFill>
                <a:latin typeface="Calibri" pitchFamily="34" charset="0"/>
                <a:ea typeface="Calibri" pitchFamily="34" charset="-122"/>
                <a:cs typeface="Calibri" pitchFamily="34" charset="-120"/>
              </a:rPr>
              <a:t>both levels rise, Δh can shrink, tension steady → UNCERTAIN.</a:t>
            </a:r>
            <a:endParaRPr lang="en-US" sz="1300" dirty="0"/>
          </a:p>
          <a:p>
            <a:pPr indent="0" marL="0">
              <a:spcAft>
                <a:spcPts val="300"/>
              </a:spcAft>
              <a:buNone/>
            </a:pPr>
            <a:r>
              <a:rPr lang="en-US" sz="1300" b="1" dirty="0">
                <a:solidFill>
                  <a:srgbClr val="E0702B"/>
                </a:solidFill>
                <a:latin typeface="Calibri" pitchFamily="34" charset="0"/>
                <a:ea typeface="Calibri" pitchFamily="34" charset="-122"/>
                <a:cs typeface="Calibri" pitchFamily="34" charset="-120"/>
              </a:rPr>
              <a:t>Debris build-up: </a:t>
            </a:r>
            <a:pPr indent="0" marL="0">
              <a:spcAft>
                <a:spcPts val="300"/>
              </a:spcAft>
              <a:buNone/>
            </a:pPr>
            <a:r>
              <a:rPr lang="en-US" sz="1300" dirty="0">
                <a:solidFill>
                  <a:srgbClr val="1F2D3D"/>
                </a:solidFill>
                <a:latin typeface="Calibri" pitchFamily="34" charset="0"/>
                <a:ea typeface="Calibri" pitchFamily="34" charset="-122"/>
                <a:cs typeface="Calibri" pitchFamily="34" charset="-120"/>
              </a:rPr>
              <a:t>Δh and tension both stay high for the persistence window → INSPECTION REQUEST.</a:t>
            </a:r>
            <a:endParaRPr lang="en-US" sz="1300" dirty="0"/>
          </a:p>
        </p:txBody>
      </p:sp>
      <p:sp>
        <p:nvSpPr>
          <p:cNvPr id="40" name="Shape 38"/>
          <p:cNvSpPr/>
          <p:nvPr/>
        </p:nvSpPr>
        <p:spPr>
          <a:xfrm>
            <a:off x="7680960" y="4526280"/>
            <a:ext cx="4023360" cy="1508760"/>
          </a:xfrm>
          <a:prstGeom prst="roundRect">
            <a:avLst>
              <a:gd name="adj" fmla="val 4848"/>
            </a:avLst>
          </a:prstGeom>
          <a:solidFill>
            <a:srgbClr val="F8E3E3"/>
          </a:solidFill>
          <a:ln w="9525">
            <a:solidFill>
              <a:srgbClr val="F8E3E3"/>
            </a:solidFill>
            <a:prstDash val="solid"/>
          </a:ln>
        </p:spPr>
      </p:sp>
      <p:sp>
        <p:nvSpPr>
          <p:cNvPr id="41" name="Text 39"/>
          <p:cNvSpPr txBox="1"/>
          <p:nvPr/>
        </p:nvSpPr>
        <p:spPr>
          <a:xfrm>
            <a:off x="7818120" y="4590288"/>
            <a:ext cx="3794760" cy="1417320"/>
          </a:xfrm>
          <a:prstGeom prst="rect">
            <a:avLst/>
          </a:prstGeom>
          <a:noFill/>
          <a:ln/>
        </p:spPr>
        <p:txBody>
          <a:bodyPr wrap="square" lIns="0" tIns="0" rIns="0" bIns="0" rtlCol="0" anchor="t"/>
          <a:lstStyle/>
          <a:p>
            <a:pPr indent="0" marL="0">
              <a:buNone/>
            </a:pPr>
            <a:r>
              <a:rPr lang="en-US" sz="1300" b="1" dirty="0">
                <a:solidFill>
                  <a:srgbClr val="B83A3A"/>
                </a:solidFill>
                <a:latin typeface="Calibri" pitchFamily="34" charset="0"/>
                <a:ea typeface="Calibri" pitchFamily="34" charset="-122"/>
                <a:cs typeface="Calibri" pitchFamily="34" charset="-120"/>
              </a:rPr>
              <a:t>System boundary — StarDust does NOT</a:t>
            </a:r>
            <a:endParaRPr lang="en-US" sz="1300" dirty="0"/>
          </a:p>
          <a:p>
            <a:pPr marL="342900" indent="-342900">
              <a:buSzPct val="100000"/>
              <a:buChar char="•"/>
            </a:pPr>
            <a:r>
              <a:rPr lang="en-US" sz="1300" dirty="0">
                <a:solidFill>
                  <a:srgbClr val="1F2D3D"/>
                </a:solidFill>
                <a:latin typeface="Calibri" pitchFamily="34" charset="0"/>
                <a:ea typeface="Calibri" pitchFamily="34" charset="-122"/>
                <a:cs typeface="Calibri" pitchFamily="34" charset="-120"/>
              </a:rPr>
              <a:t>remove waste or open the boom</a:t>
            </a:r>
            <a:endParaRPr lang="en-US" sz="1300" dirty="0"/>
          </a:p>
          <a:p>
            <a:pPr marL="342900" indent="-342900">
              <a:buSzPct val="100000"/>
              <a:buChar char="•"/>
            </a:pPr>
            <a:r>
              <a:rPr lang="en-US" sz="1300" dirty="0">
                <a:solidFill>
                  <a:srgbClr val="1F2D3D"/>
                </a:solidFill>
                <a:latin typeface="Calibri" pitchFamily="34" charset="0"/>
                <a:ea typeface="Calibri" pitchFamily="34" charset="-122"/>
                <a:cs typeface="Calibri" pitchFamily="34" charset="-120"/>
              </a:rPr>
              <a:t>identify plastic or weigh it</a:t>
            </a:r>
            <a:endParaRPr lang="en-US" sz="1300" dirty="0"/>
          </a:p>
          <a:p>
            <a:pPr marL="342900" indent="-342900">
              <a:buSzPct val="100000"/>
              <a:buChar char="•"/>
            </a:pPr>
            <a:r>
              <a:rPr lang="en-US" sz="1300" dirty="0">
                <a:solidFill>
                  <a:srgbClr val="1F2D3D"/>
                </a:solidFill>
                <a:latin typeface="Calibri" pitchFamily="34" charset="0"/>
                <a:ea typeface="Calibri" pitchFamily="34" charset="-122"/>
                <a:cs typeface="Calibri" pitchFamily="34" charset="-120"/>
              </a:rPr>
              <a:t>guarantee flood prevention</a:t>
            </a:r>
            <a:endParaRPr lang="en-US" sz="1300" dirty="0"/>
          </a:p>
          <a:p>
            <a:pPr marL="342900" indent="-342900">
              <a:buSzPct val="100000"/>
              <a:buChar char="•"/>
            </a:pPr>
            <a:r>
              <a:rPr lang="en-US" sz="1300" dirty="0">
                <a:solidFill>
                  <a:srgbClr val="1F2D3D"/>
                </a:solidFill>
                <a:latin typeface="Calibri" pitchFamily="34" charset="0"/>
                <a:ea typeface="Calibri" pitchFamily="34" charset="-122"/>
                <a:cs typeface="Calibri" pitchFamily="34" charset="-120"/>
              </a:rPr>
              <a:t>use un-validated thresholds or AI</a:t>
            </a:r>
            <a:endParaRPr lang="en-US" sz="13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VALIDATION PLAN · FEASIBILITY · COST</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A ₹9,950 bench rig that can prove — or disprove — the idea</a:t>
            </a:r>
            <a:endParaRPr lang="en-US" sz="2800" dirty="0"/>
          </a:p>
        </p:txBody>
      </p:sp>
      <p:sp>
        <p:nvSpPr>
          <p:cNvPr id="4" name="Text 2"/>
          <p:cNvSpPr txBox="1"/>
          <p:nvPr/>
        </p:nvSpPr>
        <p:spPr>
          <a:xfrm>
            <a:off x="457200" y="1371600"/>
            <a:ext cx="566928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Tabletop recirculating channel (planned)</a:t>
            </a:r>
            <a:endParaRPr lang="en-US" sz="1500" dirty="0"/>
          </a:p>
        </p:txBody>
      </p:sp>
      <p:sp>
        <p:nvSpPr>
          <p:cNvPr id="5" name="Shape 3"/>
          <p:cNvSpPr/>
          <p:nvPr/>
        </p:nvSpPr>
        <p:spPr>
          <a:xfrm>
            <a:off x="640080" y="2011680"/>
            <a:ext cx="5120640" cy="685800"/>
          </a:xfrm>
          <a:prstGeom prst="rect">
            <a:avLst/>
          </a:prstGeom>
          <a:solidFill>
            <a:srgbClr val="BFE6EA"/>
          </a:solidFill>
          <a:ln w="9525">
            <a:solidFill>
              <a:srgbClr val="0E8C99"/>
            </a:solidFill>
            <a:prstDash val="solid"/>
          </a:ln>
        </p:spPr>
      </p:sp>
      <p:sp>
        <p:nvSpPr>
          <p:cNvPr id="6" name="Shape 4"/>
          <p:cNvSpPr/>
          <p:nvPr/>
        </p:nvSpPr>
        <p:spPr>
          <a:xfrm>
            <a:off x="2651760" y="2011680"/>
            <a:ext cx="182880" cy="685800"/>
          </a:xfrm>
          <a:prstGeom prst="line">
            <a:avLst/>
          </a:prstGeom>
          <a:noFill/>
          <a:ln w="63500">
            <a:solidFill>
              <a:srgbClr val="E0702B"/>
            </a:solidFill>
            <a:prstDash val="solid"/>
          </a:ln>
        </p:spPr>
      </p:sp>
      <p:sp>
        <p:nvSpPr>
          <p:cNvPr id="7" name="Shape 5"/>
          <p:cNvSpPr/>
          <p:nvPr/>
        </p:nvSpPr>
        <p:spPr>
          <a:xfrm>
            <a:off x="5349240" y="2240280"/>
            <a:ext cx="109728" cy="457200"/>
          </a:xfrm>
          <a:prstGeom prst="rect">
            <a:avLst/>
          </a:prstGeom>
          <a:solidFill>
            <a:srgbClr val="0B2545"/>
          </a:solidFill>
          <a:ln w="9525">
            <a:solidFill>
              <a:srgbClr val="0B2545"/>
            </a:solidFill>
            <a:prstDash val="solid"/>
          </a:ln>
        </p:spPr>
      </p:sp>
      <p:sp>
        <p:nvSpPr>
          <p:cNvPr id="8" name="Text 6"/>
          <p:cNvSpPr txBox="1"/>
          <p:nvPr/>
        </p:nvSpPr>
        <p:spPr>
          <a:xfrm>
            <a:off x="2331720" y="1755648"/>
            <a:ext cx="822960" cy="228600"/>
          </a:xfrm>
          <a:prstGeom prst="rect">
            <a:avLst/>
          </a:prstGeom>
          <a:noFill/>
          <a:ln/>
        </p:spPr>
        <p:txBody>
          <a:bodyPr wrap="square" lIns="0" tIns="0" rIns="0" bIns="0" rtlCol="0" anchor="t"/>
          <a:lstStyle/>
          <a:p>
            <a:pPr algn="ctr" indent="0" marL="0">
              <a:buNone/>
            </a:pPr>
            <a:r>
              <a:rPr lang="en-US" sz="1100" b="1" dirty="0">
                <a:solidFill>
                  <a:srgbClr val="E0702B"/>
                </a:solidFill>
                <a:latin typeface="Calibri" pitchFamily="34" charset="0"/>
                <a:ea typeface="Calibri" pitchFamily="34" charset="-122"/>
                <a:cs typeface="Calibri" pitchFamily="34" charset="-120"/>
              </a:rPr>
              <a:t>boom</a:t>
            </a:r>
            <a:endParaRPr lang="en-US" sz="1100" dirty="0"/>
          </a:p>
        </p:txBody>
      </p:sp>
      <p:sp>
        <p:nvSpPr>
          <p:cNvPr id="9" name="Text 7"/>
          <p:cNvSpPr txBox="1"/>
          <p:nvPr/>
        </p:nvSpPr>
        <p:spPr>
          <a:xfrm>
            <a:off x="5074920" y="1755648"/>
            <a:ext cx="640080" cy="228600"/>
          </a:xfrm>
          <a:prstGeom prst="rect">
            <a:avLst/>
          </a:prstGeom>
          <a:noFill/>
          <a:ln/>
        </p:spPr>
        <p:txBody>
          <a:bodyPr wrap="square" lIns="0" tIns="0" rIns="0" bIns="0" rtlCol="0" anchor="t"/>
          <a:lstStyle/>
          <a:p>
            <a:pPr algn="ctr" indent="0" marL="0">
              <a:buNone/>
            </a:pPr>
            <a:r>
              <a:rPr lang="en-US" sz="1100" b="1" dirty="0">
                <a:solidFill>
                  <a:srgbClr val="0B2545"/>
                </a:solidFill>
                <a:latin typeface="Calibri" pitchFamily="34" charset="0"/>
                <a:ea typeface="Calibri" pitchFamily="34" charset="-122"/>
                <a:cs typeface="Calibri" pitchFamily="34" charset="-120"/>
              </a:rPr>
              <a:t>weir</a:t>
            </a:r>
            <a:endParaRPr lang="en-US" sz="1100" dirty="0"/>
          </a:p>
        </p:txBody>
      </p:sp>
      <p:sp>
        <p:nvSpPr>
          <p:cNvPr id="10" name="Shape 8"/>
          <p:cNvSpPr/>
          <p:nvPr/>
        </p:nvSpPr>
        <p:spPr>
          <a:xfrm>
            <a:off x="1463040" y="1719072"/>
            <a:ext cx="365760" cy="256032"/>
          </a:xfrm>
          <a:prstGeom prst="roundRect">
            <a:avLst>
              <a:gd name="adj" fmla="val 10714"/>
            </a:avLst>
          </a:prstGeom>
          <a:solidFill>
            <a:srgbClr val="0E8C99"/>
          </a:solidFill>
          <a:ln w="9525">
            <a:solidFill>
              <a:srgbClr val="0E8C99"/>
            </a:solidFill>
            <a:prstDash val="solid"/>
          </a:ln>
        </p:spPr>
      </p:sp>
      <p:sp>
        <p:nvSpPr>
          <p:cNvPr id="11" name="Text 9"/>
          <p:cNvSpPr txBox="1"/>
          <p:nvPr/>
        </p:nvSpPr>
        <p:spPr>
          <a:xfrm>
            <a:off x="1463040" y="1719072"/>
            <a:ext cx="3657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2" name="Shape 10"/>
          <p:cNvSpPr/>
          <p:nvPr/>
        </p:nvSpPr>
        <p:spPr>
          <a:xfrm>
            <a:off x="4023360" y="1719072"/>
            <a:ext cx="365760" cy="256032"/>
          </a:xfrm>
          <a:prstGeom prst="roundRect">
            <a:avLst>
              <a:gd name="adj" fmla="val 10714"/>
            </a:avLst>
          </a:prstGeom>
          <a:solidFill>
            <a:srgbClr val="0E8C99"/>
          </a:solidFill>
          <a:ln w="9525">
            <a:solidFill>
              <a:srgbClr val="0E8C99"/>
            </a:solidFill>
            <a:prstDash val="solid"/>
          </a:ln>
        </p:spPr>
      </p:sp>
      <p:sp>
        <p:nvSpPr>
          <p:cNvPr id="13" name="Text 11"/>
          <p:cNvSpPr txBox="1"/>
          <p:nvPr/>
        </p:nvSpPr>
        <p:spPr>
          <a:xfrm>
            <a:off x="4023360" y="1719072"/>
            <a:ext cx="36576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4" name="Shape 12"/>
          <p:cNvSpPr/>
          <p:nvPr/>
        </p:nvSpPr>
        <p:spPr>
          <a:xfrm>
            <a:off x="2286000" y="3154680"/>
            <a:ext cx="2011680" cy="457200"/>
          </a:xfrm>
          <a:prstGeom prst="roundRect">
            <a:avLst>
              <a:gd name="adj" fmla="val 16000"/>
            </a:avLst>
          </a:prstGeom>
          <a:solidFill>
            <a:srgbClr val="F3F6F9"/>
          </a:solidFill>
          <a:ln w="9525">
            <a:solidFill>
              <a:srgbClr val="C9D3DD"/>
            </a:solidFill>
            <a:prstDash val="solid"/>
          </a:ln>
        </p:spPr>
      </p:sp>
      <p:sp>
        <p:nvSpPr>
          <p:cNvPr id="15" name="Text 13"/>
          <p:cNvSpPr txBox="1"/>
          <p:nvPr/>
        </p:nvSpPr>
        <p:spPr>
          <a:xfrm>
            <a:off x="2286000" y="3154680"/>
            <a:ext cx="2011680" cy="45720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reservoir + pump</a:t>
            </a:r>
            <a:endParaRPr lang="en-US" sz="1200" dirty="0"/>
          </a:p>
        </p:txBody>
      </p:sp>
      <p:sp>
        <p:nvSpPr>
          <p:cNvPr id="16" name="Shape 14"/>
          <p:cNvSpPr/>
          <p:nvPr/>
        </p:nvSpPr>
        <p:spPr>
          <a:xfrm flipH="1">
            <a:off x="4315968" y="2697480"/>
            <a:ext cx="1444752" cy="612648"/>
          </a:xfrm>
          <a:prstGeom prst="line">
            <a:avLst/>
          </a:prstGeom>
          <a:noFill/>
          <a:ln w="19050">
            <a:solidFill>
              <a:srgbClr val="0E8C99"/>
            </a:solidFill>
            <a:prstDash val="dash"/>
            <a:tailEnd type="triangle"/>
          </a:ln>
        </p:spPr>
      </p:sp>
      <p:sp>
        <p:nvSpPr>
          <p:cNvPr id="17" name="Shape 15"/>
          <p:cNvSpPr/>
          <p:nvPr/>
        </p:nvSpPr>
        <p:spPr>
          <a:xfrm flipH="1" flipV="1">
            <a:off x="731520" y="2715768"/>
            <a:ext cx="1536192" cy="594360"/>
          </a:xfrm>
          <a:prstGeom prst="line">
            <a:avLst/>
          </a:prstGeom>
          <a:noFill/>
          <a:ln w="19050">
            <a:solidFill>
              <a:srgbClr val="0E8C99"/>
            </a:solidFill>
            <a:prstDash val="dash"/>
            <a:tailEnd type="triangle"/>
          </a:ln>
        </p:spPr>
      </p:sp>
      <p:sp>
        <p:nvSpPr>
          <p:cNvPr id="18" name="Shape 16"/>
          <p:cNvSpPr/>
          <p:nvPr/>
        </p:nvSpPr>
        <p:spPr>
          <a:xfrm>
            <a:off x="822960" y="3840480"/>
            <a:ext cx="384048" cy="384048"/>
          </a:xfrm>
          <a:prstGeom prst="ellipse">
            <a:avLst/>
          </a:prstGeom>
          <a:solidFill>
            <a:srgbClr val="0B2545"/>
          </a:solidFill>
          <a:ln w="9525">
            <a:solidFill>
              <a:srgbClr val="0B2545"/>
            </a:solidFill>
            <a:prstDash val="solid"/>
          </a:ln>
        </p:spPr>
      </p:sp>
      <p:sp>
        <p:nvSpPr>
          <p:cNvPr id="19" name="Text 17"/>
          <p:cNvSpPr txBox="1"/>
          <p:nvPr/>
        </p:nvSpPr>
        <p:spPr>
          <a:xfrm>
            <a:off x="82296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0" name="Text 18"/>
          <p:cNvSpPr txBox="1"/>
          <p:nvPr/>
        </p:nvSpPr>
        <p:spPr>
          <a:xfrm>
            <a:off x="457200" y="4279392"/>
            <a:ext cx="1115568"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Clean flow</a:t>
            </a:r>
            <a:endParaRPr lang="en-US" sz="1200" dirty="0"/>
          </a:p>
        </p:txBody>
      </p:sp>
      <p:sp>
        <p:nvSpPr>
          <p:cNvPr id="21" name="Text 19"/>
          <p:cNvSpPr txBox="1"/>
          <p:nvPr/>
        </p:nvSpPr>
        <p:spPr>
          <a:xfrm>
            <a:off x="457200" y="4553712"/>
            <a:ext cx="1115568" cy="27432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baseline</a:t>
            </a:r>
            <a:endParaRPr lang="en-US" sz="1100" dirty="0"/>
          </a:p>
        </p:txBody>
      </p:sp>
      <p:sp>
        <p:nvSpPr>
          <p:cNvPr id="22" name="Shape 20"/>
          <p:cNvSpPr/>
          <p:nvPr/>
        </p:nvSpPr>
        <p:spPr>
          <a:xfrm>
            <a:off x="1965960" y="3840480"/>
            <a:ext cx="384048" cy="384048"/>
          </a:xfrm>
          <a:prstGeom prst="ellipse">
            <a:avLst/>
          </a:prstGeom>
          <a:solidFill>
            <a:srgbClr val="E0702B"/>
          </a:solidFill>
          <a:ln w="9525">
            <a:solidFill>
              <a:srgbClr val="E0702B"/>
            </a:solidFill>
            <a:prstDash val="solid"/>
          </a:ln>
        </p:spPr>
      </p:sp>
      <p:sp>
        <p:nvSpPr>
          <p:cNvPr id="23" name="Text 21"/>
          <p:cNvSpPr txBox="1"/>
          <p:nvPr/>
        </p:nvSpPr>
        <p:spPr>
          <a:xfrm>
            <a:off x="196596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24" name="Text 22"/>
          <p:cNvSpPr txBox="1"/>
          <p:nvPr/>
        </p:nvSpPr>
        <p:spPr>
          <a:xfrm>
            <a:off x="1600200" y="4279392"/>
            <a:ext cx="1115568"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Add debris</a:t>
            </a:r>
            <a:endParaRPr lang="en-US" sz="1200" dirty="0"/>
          </a:p>
        </p:txBody>
      </p:sp>
      <p:sp>
        <p:nvSpPr>
          <p:cNvPr id="25" name="Text 23"/>
          <p:cNvSpPr txBox="1"/>
          <p:nvPr/>
        </p:nvSpPr>
        <p:spPr>
          <a:xfrm>
            <a:off x="1600200" y="4553712"/>
            <a:ext cx="1115568" cy="27432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same flow</a:t>
            </a:r>
            <a:endParaRPr lang="en-US" sz="1100" dirty="0"/>
          </a:p>
        </p:txBody>
      </p:sp>
      <p:sp>
        <p:nvSpPr>
          <p:cNvPr id="26" name="Shape 24"/>
          <p:cNvSpPr/>
          <p:nvPr/>
        </p:nvSpPr>
        <p:spPr>
          <a:xfrm>
            <a:off x="3108960" y="3840480"/>
            <a:ext cx="384048" cy="384048"/>
          </a:xfrm>
          <a:prstGeom prst="ellipse">
            <a:avLst/>
          </a:prstGeom>
          <a:solidFill>
            <a:srgbClr val="0B2545"/>
          </a:solidFill>
          <a:ln w="9525">
            <a:solidFill>
              <a:srgbClr val="0B2545"/>
            </a:solidFill>
            <a:prstDash val="solid"/>
          </a:ln>
        </p:spPr>
      </p:sp>
      <p:sp>
        <p:nvSpPr>
          <p:cNvPr id="27" name="Text 25"/>
          <p:cNvSpPr txBox="1"/>
          <p:nvPr/>
        </p:nvSpPr>
        <p:spPr>
          <a:xfrm>
            <a:off x="310896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8" name="Text 26"/>
          <p:cNvSpPr txBox="1"/>
          <p:nvPr/>
        </p:nvSpPr>
        <p:spPr>
          <a:xfrm>
            <a:off x="2743200" y="4279392"/>
            <a:ext cx="1115568"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Change flow</a:t>
            </a:r>
            <a:endParaRPr lang="en-US" sz="1200" dirty="0"/>
          </a:p>
        </p:txBody>
      </p:sp>
      <p:sp>
        <p:nvSpPr>
          <p:cNvPr id="29" name="Text 27"/>
          <p:cNvSpPr txBox="1"/>
          <p:nvPr/>
        </p:nvSpPr>
        <p:spPr>
          <a:xfrm>
            <a:off x="2743200" y="4553712"/>
            <a:ext cx="1115568" cy="27432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clean boom</a:t>
            </a:r>
            <a:endParaRPr lang="en-US" sz="1100" dirty="0"/>
          </a:p>
        </p:txBody>
      </p:sp>
      <p:sp>
        <p:nvSpPr>
          <p:cNvPr id="30" name="Shape 28"/>
          <p:cNvSpPr/>
          <p:nvPr/>
        </p:nvSpPr>
        <p:spPr>
          <a:xfrm>
            <a:off x="4251960" y="3840480"/>
            <a:ext cx="384048" cy="384048"/>
          </a:xfrm>
          <a:prstGeom prst="ellipse">
            <a:avLst/>
          </a:prstGeom>
          <a:solidFill>
            <a:srgbClr val="0B2545"/>
          </a:solidFill>
          <a:ln w="9525">
            <a:solidFill>
              <a:srgbClr val="0B2545"/>
            </a:solidFill>
            <a:prstDash val="solid"/>
          </a:ln>
        </p:spPr>
      </p:sp>
      <p:sp>
        <p:nvSpPr>
          <p:cNvPr id="31" name="Text 29"/>
          <p:cNvSpPr txBox="1"/>
          <p:nvPr/>
        </p:nvSpPr>
        <p:spPr>
          <a:xfrm>
            <a:off x="425196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32" name="Text 30"/>
          <p:cNvSpPr txBox="1"/>
          <p:nvPr/>
        </p:nvSpPr>
        <p:spPr>
          <a:xfrm>
            <a:off x="3886200" y="4279392"/>
            <a:ext cx="1115568"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Backwater</a:t>
            </a:r>
            <a:endParaRPr lang="en-US" sz="1200" dirty="0"/>
          </a:p>
        </p:txBody>
      </p:sp>
      <p:sp>
        <p:nvSpPr>
          <p:cNvPr id="33" name="Text 31"/>
          <p:cNvSpPr txBox="1"/>
          <p:nvPr/>
        </p:nvSpPr>
        <p:spPr>
          <a:xfrm>
            <a:off x="3886200" y="4553712"/>
            <a:ext cx="1115568" cy="27432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raise weir</a:t>
            </a:r>
            <a:endParaRPr lang="en-US" sz="1100" dirty="0"/>
          </a:p>
        </p:txBody>
      </p:sp>
      <p:sp>
        <p:nvSpPr>
          <p:cNvPr id="34" name="Shape 32"/>
          <p:cNvSpPr/>
          <p:nvPr/>
        </p:nvSpPr>
        <p:spPr>
          <a:xfrm>
            <a:off x="5394960" y="3840480"/>
            <a:ext cx="384048" cy="384048"/>
          </a:xfrm>
          <a:prstGeom prst="ellipse">
            <a:avLst/>
          </a:prstGeom>
          <a:solidFill>
            <a:srgbClr val="B83A3A"/>
          </a:solidFill>
          <a:ln w="9525">
            <a:solidFill>
              <a:srgbClr val="B83A3A"/>
            </a:solidFill>
            <a:prstDash val="solid"/>
          </a:ln>
        </p:spPr>
      </p:sp>
      <p:sp>
        <p:nvSpPr>
          <p:cNvPr id="35" name="Text 33"/>
          <p:cNvSpPr txBox="1"/>
          <p:nvPr/>
        </p:nvSpPr>
        <p:spPr>
          <a:xfrm>
            <a:off x="539496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36" name="Text 34"/>
          <p:cNvSpPr txBox="1"/>
          <p:nvPr/>
        </p:nvSpPr>
        <p:spPr>
          <a:xfrm>
            <a:off x="5029200" y="4279392"/>
            <a:ext cx="1115568" cy="274320"/>
          </a:xfrm>
          <a:prstGeom prst="rect">
            <a:avLst/>
          </a:prstGeom>
          <a:noFill/>
          <a:ln/>
        </p:spPr>
        <p:txBody>
          <a:bodyPr wrap="square" lIns="0" tIns="0" rIns="0" bIns="0" rtlCol="0" anchor="t"/>
          <a:lstStyle/>
          <a:p>
            <a:pPr algn="ctr" indent="0" marL="0">
              <a:buNone/>
            </a:pPr>
            <a:r>
              <a:rPr lang="en-US" sz="1200" b="1" dirty="0">
                <a:solidFill>
                  <a:srgbClr val="0B2545"/>
                </a:solidFill>
                <a:latin typeface="Calibri" pitchFamily="34" charset="0"/>
                <a:ea typeface="Calibri" pitchFamily="34" charset="-122"/>
                <a:cs typeface="Calibri" pitchFamily="34" charset="-120"/>
              </a:rPr>
              <a:t>Fault + recovery</a:t>
            </a:r>
            <a:endParaRPr lang="en-US" sz="1200" dirty="0"/>
          </a:p>
        </p:txBody>
      </p:sp>
      <p:sp>
        <p:nvSpPr>
          <p:cNvPr id="37" name="Text 35"/>
          <p:cNvSpPr txBox="1"/>
          <p:nvPr/>
        </p:nvSpPr>
        <p:spPr>
          <a:xfrm>
            <a:off x="5029200" y="4553712"/>
            <a:ext cx="1115568" cy="274320"/>
          </a:xfrm>
          <a:prstGeom prst="rect">
            <a:avLst/>
          </a:prstGeom>
          <a:noFill/>
          <a:ln/>
        </p:spPr>
        <p:txBody>
          <a:bodyPr wrap="square" lIns="0" tIns="0" rIns="0" bIns="0" rtlCol="0" anchor="t"/>
          <a:lstStyle/>
          <a:p>
            <a:pPr algn="ctr" indent="0" marL="0">
              <a:buNone/>
            </a:pPr>
            <a:r>
              <a:rPr lang="en-US" sz="1100" dirty="0">
                <a:solidFill>
                  <a:srgbClr val="5B6B7F"/>
                </a:solidFill>
                <a:latin typeface="Calibri" pitchFamily="34" charset="0"/>
                <a:ea typeface="Calibri" pitchFamily="34" charset="-122"/>
                <a:cs typeface="Calibri" pitchFamily="34" charset="-120"/>
              </a:rPr>
              <a:t>unplug, clear</a:t>
            </a:r>
            <a:endParaRPr lang="en-US" sz="1100" dirty="0"/>
          </a:p>
        </p:txBody>
      </p:sp>
      <p:sp>
        <p:nvSpPr>
          <p:cNvPr id="38" name="Shape 36"/>
          <p:cNvSpPr/>
          <p:nvPr/>
        </p:nvSpPr>
        <p:spPr>
          <a:xfrm>
            <a:off x="457200" y="4983480"/>
            <a:ext cx="5669280" cy="1051560"/>
          </a:xfrm>
          <a:prstGeom prst="roundRect">
            <a:avLst>
              <a:gd name="adj" fmla="val 6957"/>
            </a:avLst>
          </a:prstGeom>
          <a:solidFill>
            <a:srgbClr val="E3F4F5"/>
          </a:solidFill>
          <a:ln w="9525">
            <a:solidFill>
              <a:srgbClr val="E3F4F5"/>
            </a:solidFill>
            <a:prstDash val="solid"/>
          </a:ln>
        </p:spPr>
      </p:sp>
      <p:sp>
        <p:nvSpPr>
          <p:cNvPr id="39" name="Text 37"/>
          <p:cNvSpPr txBox="1"/>
          <p:nvPr/>
        </p:nvSpPr>
        <p:spPr>
          <a:xfrm>
            <a:off x="594360" y="5047488"/>
            <a:ext cx="5394960" cy="914400"/>
          </a:xfrm>
          <a:prstGeom prst="rect">
            <a:avLst/>
          </a:prstGeom>
          <a:noFill/>
          <a:ln/>
        </p:spPr>
        <p:txBody>
          <a:bodyPr wrap="square" lIns="0" tIns="0" rIns="0" bIns="0" rtlCol="0" anchor="t"/>
          <a:lstStyle/>
          <a:p>
            <a:pPr indent="0" marL="0">
              <a:buNone/>
            </a:pPr>
            <a:r>
              <a:rPr lang="en-US" sz="1300" b="1" dirty="0">
                <a:solidFill>
                  <a:srgbClr val="0E8C99"/>
                </a:solidFill>
                <a:latin typeface="Calibri" pitchFamily="34" charset="0"/>
                <a:ea typeface="Calibri" pitchFamily="34" charset="-122"/>
                <a:cs typeface="Calibri" pitchFamily="34" charset="-120"/>
              </a:rPr>
              <a:t>Fair comparison: </a:t>
            </a:r>
            <a:pPr indent="0" marL="0">
              <a:buNone/>
            </a:pPr>
            <a:r>
              <a:rPr lang="en-US" sz="1300" dirty="0">
                <a:solidFill>
                  <a:srgbClr val="0B2545"/>
                </a:solidFill>
                <a:latin typeface="Calibri" pitchFamily="34" charset="0"/>
                <a:ea typeface="Calibri" pitchFamily="34" charset="-122"/>
                <a:cs typeface="Calibri" pitchFamily="34" charset="-120"/>
              </a:rPr>
              <a:t>freeze rules first, then run level-only, tension-only and combined StarDust on the same held-out runs. Ground truth set independently (photos, rulers, known debris), never by StarDust itself. 60-run matrix in appendix.</a:t>
            </a:r>
            <a:endParaRPr lang="en-US" sz="1300" dirty="0"/>
          </a:p>
        </p:txBody>
      </p:sp>
      <p:sp>
        <p:nvSpPr>
          <p:cNvPr id="40" name="Text 38"/>
          <p:cNvSpPr txBox="1"/>
          <p:nvPr/>
        </p:nvSpPr>
        <p:spPr>
          <a:xfrm>
            <a:off x="6492240" y="1371600"/>
            <a:ext cx="521208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What we will report</a:t>
            </a:r>
            <a:endParaRPr lang="en-US" sz="1500" dirty="0"/>
          </a:p>
        </p:txBody>
      </p:sp>
      <p:sp>
        <p:nvSpPr>
          <p:cNvPr id="41" name="Shape 39"/>
          <p:cNvSpPr/>
          <p:nvPr/>
        </p:nvSpPr>
        <p:spPr>
          <a:xfrm>
            <a:off x="6492240" y="1783080"/>
            <a:ext cx="1673352" cy="329184"/>
          </a:xfrm>
          <a:prstGeom prst="roundRect">
            <a:avLst>
              <a:gd name="adj" fmla="val 50000"/>
            </a:avLst>
          </a:prstGeom>
          <a:solidFill>
            <a:srgbClr val="FCEBDD"/>
          </a:solidFill>
          <a:ln w="9525">
            <a:solidFill>
              <a:srgbClr val="FCEBDD"/>
            </a:solidFill>
            <a:prstDash val="solid"/>
          </a:ln>
        </p:spPr>
      </p:sp>
      <p:sp>
        <p:nvSpPr>
          <p:cNvPr id="42" name="Text 40"/>
          <p:cNvSpPr txBox="1"/>
          <p:nvPr/>
        </p:nvSpPr>
        <p:spPr>
          <a:xfrm>
            <a:off x="6492240" y="1783080"/>
            <a:ext cx="1673352" cy="329184"/>
          </a:xfrm>
          <a:prstGeom prst="rect">
            <a:avLst/>
          </a:prstGeom>
          <a:noFill/>
          <a:ln/>
        </p:spPr>
        <p:txBody>
          <a:bodyPr wrap="square" lIns="0" tIns="0" rIns="0" bIns="0" rtlCol="0" anchor="ctr"/>
          <a:lstStyle/>
          <a:p>
            <a:pPr algn="ctr" indent="0" marL="0">
              <a:buNone/>
            </a:pPr>
            <a:r>
              <a:rPr lang="en-US" sz="1100" b="1" dirty="0">
                <a:solidFill>
                  <a:srgbClr val="8A3B0F"/>
                </a:solidFill>
                <a:latin typeface="Calibri" pitchFamily="34" charset="0"/>
                <a:ea typeface="Calibri" pitchFamily="34" charset="-122"/>
                <a:cs typeface="Calibri" pitchFamily="34" charset="-120"/>
              </a:rPr>
              <a:t>False-positive rate</a:t>
            </a:r>
            <a:endParaRPr lang="en-US" sz="1100" dirty="0"/>
          </a:p>
        </p:txBody>
      </p:sp>
      <p:sp>
        <p:nvSpPr>
          <p:cNvPr id="43" name="Shape 41"/>
          <p:cNvSpPr/>
          <p:nvPr/>
        </p:nvSpPr>
        <p:spPr>
          <a:xfrm>
            <a:off x="8257032" y="1783080"/>
            <a:ext cx="1673352" cy="329184"/>
          </a:xfrm>
          <a:prstGeom prst="roundRect">
            <a:avLst>
              <a:gd name="adj" fmla="val 50000"/>
            </a:avLst>
          </a:prstGeom>
          <a:solidFill>
            <a:srgbClr val="FCEBDD"/>
          </a:solidFill>
          <a:ln w="9525">
            <a:solidFill>
              <a:srgbClr val="FCEBDD"/>
            </a:solidFill>
            <a:prstDash val="solid"/>
          </a:ln>
        </p:spPr>
      </p:sp>
      <p:sp>
        <p:nvSpPr>
          <p:cNvPr id="44" name="Text 42"/>
          <p:cNvSpPr txBox="1"/>
          <p:nvPr/>
        </p:nvSpPr>
        <p:spPr>
          <a:xfrm>
            <a:off x="8257032" y="1783080"/>
            <a:ext cx="1673352" cy="329184"/>
          </a:xfrm>
          <a:prstGeom prst="rect">
            <a:avLst/>
          </a:prstGeom>
          <a:noFill/>
          <a:ln/>
        </p:spPr>
        <p:txBody>
          <a:bodyPr wrap="square" lIns="0" tIns="0" rIns="0" bIns="0" rtlCol="0" anchor="ctr"/>
          <a:lstStyle/>
          <a:p>
            <a:pPr algn="ctr" indent="0" marL="0">
              <a:buNone/>
            </a:pPr>
            <a:r>
              <a:rPr lang="en-US" sz="1100" b="1" dirty="0">
                <a:solidFill>
                  <a:srgbClr val="8A3B0F"/>
                </a:solidFill>
                <a:latin typeface="Calibri" pitchFamily="34" charset="0"/>
                <a:ea typeface="Calibri" pitchFamily="34" charset="-122"/>
                <a:cs typeface="Calibri" pitchFamily="34" charset="-120"/>
              </a:rPr>
              <a:t>Missed-event rate</a:t>
            </a:r>
            <a:endParaRPr lang="en-US" sz="1100" dirty="0"/>
          </a:p>
        </p:txBody>
      </p:sp>
      <p:sp>
        <p:nvSpPr>
          <p:cNvPr id="45" name="Shape 43"/>
          <p:cNvSpPr/>
          <p:nvPr/>
        </p:nvSpPr>
        <p:spPr>
          <a:xfrm>
            <a:off x="10021824" y="1783080"/>
            <a:ext cx="1673352" cy="329184"/>
          </a:xfrm>
          <a:prstGeom prst="roundRect">
            <a:avLst>
              <a:gd name="adj" fmla="val 50000"/>
            </a:avLst>
          </a:prstGeom>
          <a:solidFill>
            <a:srgbClr val="E3F4F5"/>
          </a:solidFill>
          <a:ln w="9525">
            <a:solidFill>
              <a:srgbClr val="E3F4F5"/>
            </a:solidFill>
            <a:prstDash val="solid"/>
          </a:ln>
        </p:spPr>
      </p:sp>
      <p:sp>
        <p:nvSpPr>
          <p:cNvPr id="46" name="Text 44"/>
          <p:cNvSpPr txBox="1"/>
          <p:nvPr/>
        </p:nvSpPr>
        <p:spPr>
          <a:xfrm>
            <a:off x="10021824" y="1783080"/>
            <a:ext cx="1673352" cy="329184"/>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Detection delay</a:t>
            </a:r>
            <a:endParaRPr lang="en-US" sz="1100" dirty="0"/>
          </a:p>
        </p:txBody>
      </p:sp>
      <p:sp>
        <p:nvSpPr>
          <p:cNvPr id="47" name="Shape 45"/>
          <p:cNvSpPr/>
          <p:nvPr/>
        </p:nvSpPr>
        <p:spPr>
          <a:xfrm>
            <a:off x="6492240" y="2221992"/>
            <a:ext cx="1673352" cy="329184"/>
          </a:xfrm>
          <a:prstGeom prst="roundRect">
            <a:avLst>
              <a:gd name="adj" fmla="val 50000"/>
            </a:avLst>
          </a:prstGeom>
          <a:solidFill>
            <a:srgbClr val="E3F4F5"/>
          </a:solidFill>
          <a:ln w="9525">
            <a:solidFill>
              <a:srgbClr val="E3F4F5"/>
            </a:solidFill>
            <a:prstDash val="solid"/>
          </a:ln>
        </p:spPr>
      </p:sp>
      <p:sp>
        <p:nvSpPr>
          <p:cNvPr id="48" name="Text 46"/>
          <p:cNvSpPr txBox="1"/>
          <p:nvPr/>
        </p:nvSpPr>
        <p:spPr>
          <a:xfrm>
            <a:off x="6492240" y="2221992"/>
            <a:ext cx="1673352" cy="329184"/>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Uncertain-output rate</a:t>
            </a:r>
            <a:endParaRPr lang="en-US" sz="1100" dirty="0"/>
          </a:p>
        </p:txBody>
      </p:sp>
      <p:sp>
        <p:nvSpPr>
          <p:cNvPr id="49" name="Shape 47"/>
          <p:cNvSpPr/>
          <p:nvPr/>
        </p:nvSpPr>
        <p:spPr>
          <a:xfrm>
            <a:off x="8257032" y="2221992"/>
            <a:ext cx="1673352" cy="329184"/>
          </a:xfrm>
          <a:prstGeom prst="roundRect">
            <a:avLst>
              <a:gd name="adj" fmla="val 50000"/>
            </a:avLst>
          </a:prstGeom>
          <a:solidFill>
            <a:srgbClr val="E3F4F5"/>
          </a:solidFill>
          <a:ln w="9525">
            <a:solidFill>
              <a:srgbClr val="E3F4F5"/>
            </a:solidFill>
            <a:prstDash val="solid"/>
          </a:ln>
        </p:spPr>
      </p:sp>
      <p:sp>
        <p:nvSpPr>
          <p:cNvPr id="50" name="Text 48"/>
          <p:cNvSpPr txBox="1"/>
          <p:nvPr/>
        </p:nvSpPr>
        <p:spPr>
          <a:xfrm>
            <a:off x="8257032" y="2221992"/>
            <a:ext cx="1673352" cy="329184"/>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Valid-data fraction</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2788920"/>
          <a:ext cx="5212080" cy="914400"/>
        </p:xfrm>
        <a:graphic>
          <a:graphicData uri="http://schemas.openxmlformats.org/drawingml/2006/table">
            <a:tbl>
              <a:tblPr/>
              <a:tblGrid>
                <a:gridCol w="4297680"/>
                <a:gridCol w="914400"/>
              </a:tblGrid>
              <a:tr h="329184">
                <a:tc>
                  <a:txBody>
                    <a:bodyPr/>
                    <a:lstStyle/>
                    <a:p>
                      <a:pPr algn="l" indent="0" marL="0">
                        <a:buNone/>
                      </a:pPr>
                      <a:r>
                        <a:rPr lang="en-US" sz="1200" b="1" dirty="0">
                          <a:solidFill>
                            <a:srgbClr val="FFFFFF"/>
                          </a:solidFill>
                        </a:rPr>
                        <a:t>Bench item (planning allowance)</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algn="r" indent="0" marL="0">
                        <a:buNone/>
                      </a:pPr>
                      <a:r>
                        <a:rPr lang="en-US" sz="1200" b="1" dirty="0">
                          <a:solidFill>
                            <a:srgbClr val="FFFFFF"/>
                          </a:solidFill>
                        </a:rPr>
                        <a:t>INR</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r>
              <a:tr h="329184">
                <a:tc>
                  <a:txBody>
                    <a:bodyPr/>
                    <a:lstStyle/>
                    <a:p>
                      <a:pPr algn="l" indent="0" marL="0">
                        <a:buNone/>
                      </a:pPr>
                      <a:r>
                        <a:rPr lang="en-US" sz="1200" dirty="0">
                          <a:solidFill>
                            <a:srgbClr val="1F2D3D"/>
                          </a:solidFill>
                        </a:rPr>
                        <a:t>ESP32, 2 level modules, load cell, HX711, logging, wiring</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3,400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F2D3D"/>
                          </a:solidFill>
                        </a:rPr>
                        <a:t>Transparent channel + leak containment</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dirty="0">
                          <a:solidFill>
                            <a:srgbClr val="1F2D3D"/>
                          </a:solidFill>
                        </a:rPr>
                        <a:t>1,800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29184">
                <a:tc>
                  <a:txBody>
                    <a:bodyPr/>
                    <a:lstStyle/>
                    <a:p>
                      <a:pPr algn="l" indent="0" marL="0">
                        <a:buNone/>
                      </a:pPr>
                      <a:r>
                        <a:rPr lang="en-US" sz="1200" dirty="0">
                          <a:solidFill>
                            <a:srgbClr val="1F2D3D"/>
                          </a:solidFill>
                        </a:rPr>
                        <a:t>Pump, hoses, reservoir</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1,700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F2D3D"/>
                          </a:solidFill>
                        </a:rPr>
                        <a:t>Boom, mooring, frame · weir · reference tools · misc</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dirty="0">
                          <a:solidFill>
                            <a:srgbClr val="1F2D3D"/>
                          </a:solidFill>
                        </a:rPr>
                        <a:t>1,750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29184">
                <a:tc>
                  <a:txBody>
                    <a:bodyPr/>
                    <a:lstStyle/>
                    <a:p>
                      <a:pPr algn="l" indent="0" marL="0">
                        <a:buNone/>
                      </a:pPr>
                      <a:r>
                        <a:rPr lang="en-US" sz="1200" b="1" dirty="0">
                          <a:solidFill>
                            <a:srgbClr val="1F2D3D"/>
                          </a:solidFill>
                        </a:rPr>
                        <a:t>Base total</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2D3D"/>
                          </a:solidFill>
                        </a:rPr>
                        <a:t>8,650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FFFFFF"/>
                          </a:solidFill>
                        </a:rPr>
                        <a:t>15% reserve → planned total (rounded)</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c>
                  <a:txBody>
                    <a:bodyPr/>
                    <a:lstStyle/>
                    <a:p>
                      <a:pPr algn="r" indent="0" marL="0">
                        <a:buNone/>
                      </a:pPr>
                      <a:r>
                        <a:rPr lang="en-US" sz="1200" b="1" dirty="0">
                          <a:solidFill>
                            <a:srgbClr val="FFFFFF"/>
                          </a:solidFill>
                        </a:rPr>
                        <a:t>9,950</a:t>
                      </a:r>
                      <a:endParaRPr lang="en-US" sz="1200" dirty="0"/>
                    </a:p>
                  </a:txBody>
                  <a:tcPr marL="76200" marR="76200" marT="25400" marB="254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r>
            </a:tbl>
          </a:graphicData>
        </a:graphic>
      </p:graphicFrame>
      <p:sp>
        <p:nvSpPr>
          <p:cNvPr id="52" name="Shape 49"/>
          <p:cNvSpPr/>
          <p:nvPr/>
        </p:nvSpPr>
        <p:spPr>
          <a:xfrm>
            <a:off x="6492240" y="5257800"/>
            <a:ext cx="5212080" cy="777240"/>
          </a:xfrm>
          <a:prstGeom prst="roundRect">
            <a:avLst>
              <a:gd name="adj" fmla="val 9412"/>
            </a:avLst>
          </a:prstGeom>
          <a:solidFill>
            <a:srgbClr val="FCEBDD"/>
          </a:solidFill>
          <a:ln w="9525">
            <a:solidFill>
              <a:srgbClr val="FCEBDD"/>
            </a:solidFill>
            <a:prstDash val="solid"/>
          </a:ln>
        </p:spPr>
      </p:sp>
      <p:sp>
        <p:nvSpPr>
          <p:cNvPr id="53" name="Text 50"/>
          <p:cNvSpPr txBox="1"/>
          <p:nvPr/>
        </p:nvSpPr>
        <p:spPr>
          <a:xfrm>
            <a:off x="6629400" y="5303520"/>
            <a:ext cx="4983480" cy="713232"/>
          </a:xfrm>
          <a:prstGeom prst="rect">
            <a:avLst/>
          </a:prstGeom>
          <a:noFill/>
          <a:ln/>
        </p:spPr>
        <p:txBody>
          <a:bodyPr wrap="square" lIns="0" tIns="0" rIns="0" bIns="0" rtlCol="0" anchor="ctr"/>
          <a:lstStyle/>
          <a:p>
            <a:pPr indent="0" marL="0">
              <a:buNone/>
            </a:pPr>
            <a:r>
              <a:rPr lang="en-US" sz="1200" b="1" dirty="0">
                <a:solidFill>
                  <a:srgbClr val="E0702B"/>
                </a:solidFill>
                <a:latin typeface="Calibri" pitchFamily="34" charset="0"/>
                <a:ea typeface="Calibri" pitchFamily="34" charset="-122"/>
                <a:cs typeface="Calibri" pitchFamily="34" charset="-120"/>
              </a:rPr>
              <a:t>Go / no-go gate: </a:t>
            </a:r>
            <a:pPr indent="0" marL="0">
              <a:buNone/>
            </a:pPr>
            <a:r>
              <a:rPr lang="en-US" sz="1200" dirty="0">
                <a:solidFill>
                  <a:srgbClr val="1F2D3D"/>
                </a:solidFill>
                <a:latin typeface="Calibri" pitchFamily="34" charset="0"/>
                <a:ea typeface="Calibri" pitchFamily="34" charset="-122"/>
                <a:cs typeface="Calibri" pitchFamily="34" charset="-120"/>
              </a:rPr>
              <a:t>if Δh and tension changes are not clearly bigger than sensor noise, or combined logic does not beat the simpler methods, we simplify or stop.</a:t>
            </a:r>
            <a:endParaRPr lang="en-US" sz="1200" dirty="0"/>
          </a:p>
        </p:txBody>
      </p:sp>
      <p:sp>
        <p:nvSpPr>
          <p:cNvPr id="54" name="Text 51"/>
          <p:cNvSpPr txBox="1"/>
          <p:nvPr/>
        </p:nvSpPr>
        <p:spPr>
          <a:xfrm>
            <a:off x="457200" y="6144768"/>
            <a:ext cx="11247120" cy="274320"/>
          </a:xfrm>
          <a:prstGeom prst="rect">
            <a:avLst/>
          </a:prstGeom>
          <a:noFill/>
          <a:ln/>
        </p:spPr>
        <p:txBody>
          <a:bodyPr wrap="square" lIns="0" tIns="0" rIns="0" bIns="0" rtlCol="0" anchor="t"/>
          <a:lstStyle/>
          <a:p>
            <a:pPr indent="0" marL="0">
              <a:buNone/>
            </a:pPr>
            <a:r>
              <a:rPr lang="en-US" sz="1000" i="1" dirty="0">
                <a:solidFill>
                  <a:srgbClr val="5B6B7F"/>
                </a:solidFill>
                <a:latin typeface="Calibri" pitchFamily="34" charset="0"/>
                <a:ea typeface="Calibri" pitchFamily="34" charset="-122"/>
                <a:cs typeface="Calibri" pitchFamily="34" charset="-120"/>
              </a:rPr>
              <a:t>Budget = engineering planning estimates, not supplier quotes; borrowed laptop and tools assumed; excludes any field installation. All tests are PLANNED — no results yet.</a:t>
            </a:r>
            <a:endParaRPr lang="en-US" sz="10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0E8C99"/>
                </a:solidFill>
                <a:latin typeface="Calibri" pitchFamily="34" charset="0"/>
                <a:ea typeface="Calibri" pitchFamily="34" charset="-122"/>
                <a:cs typeface="Calibri" pitchFamily="34" charset="-120"/>
              </a:rPr>
              <a:t>IMPACT &amp; SCALABILITY</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Bench evidence → one measured pilot → scale only what works</a:t>
            </a:r>
            <a:endParaRPr lang="en-US" sz="2800" dirty="0"/>
          </a:p>
        </p:txBody>
      </p:sp>
      <p:sp>
        <p:nvSpPr>
          <p:cNvPr id="4" name="Shape 2"/>
          <p:cNvSpPr/>
          <p:nvPr/>
        </p:nvSpPr>
        <p:spPr>
          <a:xfrm>
            <a:off x="457200" y="1417320"/>
            <a:ext cx="2240280" cy="868680"/>
          </a:xfrm>
          <a:prstGeom prst="chevron">
            <a:avLst/>
          </a:prstGeom>
          <a:solidFill>
            <a:srgbClr val="0E8C99"/>
          </a:solidFill>
          <a:ln w="9525">
            <a:solidFill>
              <a:srgbClr val="0E8C99"/>
            </a:solidFill>
            <a:prstDash val="solid"/>
          </a:ln>
        </p:spPr>
      </p:sp>
      <p:sp>
        <p:nvSpPr>
          <p:cNvPr id="5" name="Text 3"/>
          <p:cNvSpPr txBox="1"/>
          <p:nvPr/>
        </p:nvSpPr>
        <p:spPr>
          <a:xfrm>
            <a:off x="777240" y="1463040"/>
            <a:ext cx="169164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Bench verification</a:t>
            </a:r>
            <a:endParaRPr lang="en-US" sz="1300" dirty="0"/>
          </a:p>
        </p:txBody>
      </p:sp>
      <p:sp>
        <p:nvSpPr>
          <p:cNvPr id="6" name="Text 4"/>
          <p:cNvSpPr txBox="1"/>
          <p:nvPr/>
        </p:nvSpPr>
        <p:spPr>
          <a:xfrm>
            <a:off x="777240" y="1856232"/>
            <a:ext cx="1691640" cy="365760"/>
          </a:xfrm>
          <a:prstGeom prst="rect">
            <a:avLst/>
          </a:prstGeom>
          <a:noFill/>
          <a:ln/>
        </p:spPr>
        <p:txBody>
          <a:bodyPr wrap="square" lIns="0" tIns="0" rIns="0" bIns="0" rtlCol="0" anchor="ctr"/>
          <a:lstStyle/>
          <a:p>
            <a:pPr algn="ctr" indent="0" marL="0">
              <a:buNone/>
            </a:pPr>
            <a:r>
              <a:rPr lang="en-US" sz="1100" dirty="0">
                <a:solidFill>
                  <a:srgbClr val="E6F6F7"/>
                </a:solidFill>
                <a:latin typeface="Calibri" pitchFamily="34" charset="0"/>
                <a:ea typeface="Calibri" pitchFamily="34" charset="-122"/>
                <a:cs typeface="Calibri" pitchFamily="34" charset="-120"/>
              </a:rPr>
              <a:t>rig + 3-method test</a:t>
            </a:r>
            <a:endParaRPr lang="en-US" sz="1100" dirty="0"/>
          </a:p>
        </p:txBody>
      </p:sp>
      <p:sp>
        <p:nvSpPr>
          <p:cNvPr id="7" name="Shape 5"/>
          <p:cNvSpPr/>
          <p:nvPr/>
        </p:nvSpPr>
        <p:spPr>
          <a:xfrm>
            <a:off x="2743200" y="1417320"/>
            <a:ext cx="2240280" cy="868680"/>
          </a:xfrm>
          <a:prstGeom prst="chevron">
            <a:avLst/>
          </a:prstGeom>
          <a:solidFill>
            <a:srgbClr val="E3F4F5"/>
          </a:solidFill>
          <a:ln w="9525">
            <a:solidFill>
              <a:srgbClr val="0E8C99"/>
            </a:solidFill>
            <a:prstDash val="solid"/>
          </a:ln>
        </p:spPr>
      </p:sp>
      <p:sp>
        <p:nvSpPr>
          <p:cNvPr id="8" name="Text 6"/>
          <p:cNvSpPr txBox="1"/>
          <p:nvPr/>
        </p:nvSpPr>
        <p:spPr>
          <a:xfrm>
            <a:off x="3063240" y="1463040"/>
            <a:ext cx="1691640" cy="4114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Permitted site survey</a:t>
            </a:r>
            <a:endParaRPr lang="en-US" sz="1300" dirty="0"/>
          </a:p>
        </p:txBody>
      </p:sp>
      <p:sp>
        <p:nvSpPr>
          <p:cNvPr id="9" name="Text 7"/>
          <p:cNvSpPr txBox="1"/>
          <p:nvPr/>
        </p:nvSpPr>
        <p:spPr>
          <a:xfrm>
            <a:off x="3063240" y="1856232"/>
            <a:ext cx="169164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Malad catchment candidate</a:t>
            </a:r>
            <a:endParaRPr lang="en-US" sz="1100" dirty="0"/>
          </a:p>
        </p:txBody>
      </p:sp>
      <p:sp>
        <p:nvSpPr>
          <p:cNvPr id="10" name="Shape 8"/>
          <p:cNvSpPr/>
          <p:nvPr/>
        </p:nvSpPr>
        <p:spPr>
          <a:xfrm>
            <a:off x="5029200" y="1417320"/>
            <a:ext cx="2240280" cy="868680"/>
          </a:xfrm>
          <a:prstGeom prst="chevron">
            <a:avLst/>
          </a:prstGeom>
          <a:solidFill>
            <a:srgbClr val="E3F4F5"/>
          </a:solidFill>
          <a:ln w="9525">
            <a:solidFill>
              <a:srgbClr val="0E8C99"/>
            </a:solidFill>
            <a:prstDash val="solid"/>
          </a:ln>
        </p:spPr>
      </p:sp>
      <p:sp>
        <p:nvSpPr>
          <p:cNvPr id="11" name="Text 9"/>
          <p:cNvSpPr txBox="1"/>
          <p:nvPr/>
        </p:nvSpPr>
        <p:spPr>
          <a:xfrm>
            <a:off x="5349240" y="1463040"/>
            <a:ext cx="1691640" cy="4114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One-site pilot</a:t>
            </a:r>
            <a:endParaRPr lang="en-US" sz="1300" dirty="0"/>
          </a:p>
        </p:txBody>
      </p:sp>
      <p:sp>
        <p:nvSpPr>
          <p:cNvPr id="12" name="Text 10"/>
          <p:cNvSpPr txBox="1"/>
          <p:nvPr/>
        </p:nvSpPr>
        <p:spPr>
          <a:xfrm>
            <a:off x="5349240" y="1856232"/>
            <a:ext cx="169164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with named operator</a:t>
            </a:r>
            <a:endParaRPr lang="en-US" sz="1100" dirty="0"/>
          </a:p>
        </p:txBody>
      </p:sp>
      <p:sp>
        <p:nvSpPr>
          <p:cNvPr id="13" name="Shape 11"/>
          <p:cNvSpPr/>
          <p:nvPr/>
        </p:nvSpPr>
        <p:spPr>
          <a:xfrm>
            <a:off x="7315200" y="1417320"/>
            <a:ext cx="2240280" cy="868680"/>
          </a:xfrm>
          <a:prstGeom prst="chevron">
            <a:avLst/>
          </a:prstGeom>
          <a:solidFill>
            <a:srgbClr val="E3F4F5"/>
          </a:solidFill>
          <a:ln w="9525">
            <a:solidFill>
              <a:srgbClr val="0E8C99"/>
            </a:solidFill>
            <a:prstDash val="solid"/>
          </a:ln>
        </p:spPr>
      </p:sp>
      <p:sp>
        <p:nvSpPr>
          <p:cNvPr id="14" name="Text 12"/>
          <p:cNvSpPr txBox="1"/>
          <p:nvPr/>
        </p:nvSpPr>
        <p:spPr>
          <a:xfrm>
            <a:off x="7635240" y="1463040"/>
            <a:ext cx="1691640" cy="4114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Measured evaluation</a:t>
            </a:r>
            <a:endParaRPr lang="en-US" sz="1300" dirty="0"/>
          </a:p>
        </p:txBody>
      </p:sp>
      <p:sp>
        <p:nvSpPr>
          <p:cNvPr id="15" name="Text 13"/>
          <p:cNvSpPr txBox="1"/>
          <p:nvPr/>
        </p:nvSpPr>
        <p:spPr>
          <a:xfrm>
            <a:off x="7635240" y="1856232"/>
            <a:ext cx="169164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vs baseline period</a:t>
            </a:r>
            <a:endParaRPr lang="en-US" sz="1100" dirty="0"/>
          </a:p>
        </p:txBody>
      </p:sp>
      <p:sp>
        <p:nvSpPr>
          <p:cNvPr id="16" name="Shape 14"/>
          <p:cNvSpPr/>
          <p:nvPr/>
        </p:nvSpPr>
        <p:spPr>
          <a:xfrm>
            <a:off x="9601200" y="1417320"/>
            <a:ext cx="2240280" cy="868680"/>
          </a:xfrm>
          <a:prstGeom prst="chevron">
            <a:avLst/>
          </a:prstGeom>
          <a:solidFill>
            <a:srgbClr val="F3F6F9"/>
          </a:solidFill>
          <a:ln w="9525">
            <a:solidFill>
              <a:srgbClr val="C9D3DD"/>
            </a:solidFill>
            <a:prstDash val="solid"/>
          </a:ln>
        </p:spPr>
      </p:sp>
      <p:sp>
        <p:nvSpPr>
          <p:cNvPr id="17" name="Text 15"/>
          <p:cNvSpPr txBox="1"/>
          <p:nvPr/>
        </p:nvSpPr>
        <p:spPr>
          <a:xfrm>
            <a:off x="9921240" y="1463040"/>
            <a:ext cx="1691640" cy="41148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Potential expansion</a:t>
            </a:r>
            <a:endParaRPr lang="en-US" sz="1300" dirty="0"/>
          </a:p>
        </p:txBody>
      </p:sp>
      <p:sp>
        <p:nvSpPr>
          <p:cNvPr id="18" name="Text 16"/>
          <p:cNvSpPr txBox="1"/>
          <p:nvPr/>
        </p:nvSpPr>
        <p:spPr>
          <a:xfrm>
            <a:off x="9921240" y="1856232"/>
            <a:ext cx="1691640" cy="365760"/>
          </a:xfrm>
          <a:prstGeom prst="rect">
            <a:avLst/>
          </a:prstGeom>
          <a:noFill/>
          <a:ln/>
        </p:spPr>
        <p:txBody>
          <a:bodyPr wrap="square" lIns="0" tIns="0" rIns="0" bIns="0" rtlCol="0" anchor="ctr"/>
          <a:lstStyle/>
          <a:p>
            <a:pPr algn="ctr" indent="0" marL="0">
              <a:buNone/>
            </a:pPr>
            <a:r>
              <a:rPr lang="en-US" sz="1100" dirty="0">
                <a:solidFill>
                  <a:srgbClr val="5B6B7F"/>
                </a:solidFill>
                <a:latin typeface="Calibri" pitchFamily="34" charset="0"/>
                <a:ea typeface="Calibri" pitchFamily="34" charset="-122"/>
                <a:cs typeface="Calibri" pitchFamily="34" charset="-120"/>
              </a:rPr>
              <a:t>per-site calibration</a:t>
            </a:r>
            <a:endParaRPr lang="en-US" sz="1100" dirty="0"/>
          </a:p>
        </p:txBody>
      </p:sp>
      <p:sp>
        <p:nvSpPr>
          <p:cNvPr id="19" name="Text 17"/>
          <p:cNvSpPr txBox="1"/>
          <p:nvPr/>
        </p:nvSpPr>
        <p:spPr>
          <a:xfrm>
            <a:off x="457200" y="2377440"/>
            <a:ext cx="11247120" cy="27432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Each arrow is a gate: we move right only on evidence. Nothing beyond stage 1 is arranged yet.</a:t>
            </a:r>
            <a:endParaRPr lang="en-US" sz="1200" dirty="0"/>
          </a:p>
        </p:txBody>
      </p:sp>
      <p:sp>
        <p:nvSpPr>
          <p:cNvPr id="20" name="Text 18"/>
          <p:cNvSpPr txBox="1"/>
          <p:nvPr/>
        </p:nvSpPr>
        <p:spPr>
          <a:xfrm>
            <a:off x="457200" y="2788920"/>
            <a:ext cx="548640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Operator workflow</a:t>
            </a:r>
            <a:endParaRPr lang="en-US" sz="1500" dirty="0"/>
          </a:p>
        </p:txBody>
      </p:sp>
      <p:sp>
        <p:nvSpPr>
          <p:cNvPr id="21" name="Shape 19"/>
          <p:cNvSpPr/>
          <p:nvPr/>
        </p:nvSpPr>
        <p:spPr>
          <a:xfrm>
            <a:off x="457200" y="3200400"/>
            <a:ext cx="2651760" cy="420624"/>
          </a:xfrm>
          <a:prstGeom prst="roundRect">
            <a:avLst>
              <a:gd name="adj" fmla="val 17391"/>
            </a:avLst>
          </a:prstGeom>
          <a:solidFill>
            <a:srgbClr val="E0702B"/>
          </a:solidFill>
          <a:ln w="9525">
            <a:solidFill>
              <a:srgbClr val="E0702B"/>
            </a:solidFill>
            <a:prstDash val="solid"/>
          </a:ln>
        </p:spPr>
      </p:sp>
      <p:sp>
        <p:nvSpPr>
          <p:cNvPr id="22" name="Text 20"/>
          <p:cNvSpPr txBox="1"/>
          <p:nvPr/>
        </p:nvSpPr>
        <p:spPr>
          <a:xfrm>
            <a:off x="594360" y="3200400"/>
            <a:ext cx="246888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  Condition flag</a:t>
            </a:r>
            <a:endParaRPr lang="en-US" sz="1300" dirty="0"/>
          </a:p>
        </p:txBody>
      </p:sp>
      <p:sp>
        <p:nvSpPr>
          <p:cNvPr id="23" name="Shape 21"/>
          <p:cNvSpPr/>
          <p:nvPr/>
        </p:nvSpPr>
        <p:spPr>
          <a:xfrm>
            <a:off x="1783080" y="3630168"/>
            <a:ext cx="914" cy="109728"/>
          </a:xfrm>
          <a:prstGeom prst="line">
            <a:avLst/>
          </a:prstGeom>
          <a:noFill/>
          <a:ln w="15875">
            <a:solidFill>
              <a:srgbClr val="0B2545"/>
            </a:solidFill>
            <a:prstDash val="solid"/>
            <a:tailEnd type="triangle"/>
          </a:ln>
        </p:spPr>
      </p:sp>
      <p:sp>
        <p:nvSpPr>
          <p:cNvPr id="24" name="Shape 22"/>
          <p:cNvSpPr/>
          <p:nvPr/>
        </p:nvSpPr>
        <p:spPr>
          <a:xfrm>
            <a:off x="457200" y="3749040"/>
            <a:ext cx="2651760" cy="420624"/>
          </a:xfrm>
          <a:prstGeom prst="roundRect">
            <a:avLst>
              <a:gd name="adj" fmla="val 17391"/>
            </a:avLst>
          </a:prstGeom>
          <a:solidFill>
            <a:srgbClr val="F3F6F9"/>
          </a:solidFill>
          <a:ln w="9525">
            <a:solidFill>
              <a:srgbClr val="C9D3DD"/>
            </a:solidFill>
            <a:prstDash val="solid"/>
          </a:ln>
        </p:spPr>
      </p:sp>
      <p:sp>
        <p:nvSpPr>
          <p:cNvPr id="25" name="Text 23"/>
          <p:cNvSpPr txBox="1"/>
          <p:nvPr/>
        </p:nvSpPr>
        <p:spPr>
          <a:xfrm>
            <a:off x="594360" y="3749040"/>
            <a:ext cx="2468880" cy="42062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2  Engineer review</a:t>
            </a:r>
            <a:endParaRPr lang="en-US" sz="1300" dirty="0"/>
          </a:p>
        </p:txBody>
      </p:sp>
      <p:sp>
        <p:nvSpPr>
          <p:cNvPr id="26" name="Shape 24"/>
          <p:cNvSpPr/>
          <p:nvPr/>
        </p:nvSpPr>
        <p:spPr>
          <a:xfrm>
            <a:off x="1783080" y="4178808"/>
            <a:ext cx="914" cy="109728"/>
          </a:xfrm>
          <a:prstGeom prst="line">
            <a:avLst/>
          </a:prstGeom>
          <a:noFill/>
          <a:ln w="15875">
            <a:solidFill>
              <a:srgbClr val="0B2545"/>
            </a:solidFill>
            <a:prstDash val="solid"/>
            <a:tailEnd type="triangle"/>
          </a:ln>
        </p:spPr>
      </p:sp>
      <p:sp>
        <p:nvSpPr>
          <p:cNvPr id="27" name="Shape 25"/>
          <p:cNvSpPr/>
          <p:nvPr/>
        </p:nvSpPr>
        <p:spPr>
          <a:xfrm>
            <a:off x="457200" y="4297680"/>
            <a:ext cx="2651760" cy="420624"/>
          </a:xfrm>
          <a:prstGeom prst="roundRect">
            <a:avLst>
              <a:gd name="adj" fmla="val 17391"/>
            </a:avLst>
          </a:prstGeom>
          <a:solidFill>
            <a:srgbClr val="F3F6F9"/>
          </a:solidFill>
          <a:ln w="9525">
            <a:solidFill>
              <a:srgbClr val="C9D3DD"/>
            </a:solidFill>
            <a:prstDash val="solid"/>
          </a:ln>
        </p:spPr>
      </p:sp>
      <p:sp>
        <p:nvSpPr>
          <p:cNvPr id="28" name="Text 26"/>
          <p:cNvSpPr txBox="1"/>
          <p:nvPr/>
        </p:nvSpPr>
        <p:spPr>
          <a:xfrm>
            <a:off x="594360" y="4297680"/>
            <a:ext cx="2468880" cy="42062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3  Crew inspection</a:t>
            </a:r>
            <a:endParaRPr lang="en-US" sz="1300" dirty="0"/>
          </a:p>
        </p:txBody>
      </p:sp>
      <p:sp>
        <p:nvSpPr>
          <p:cNvPr id="29" name="Shape 27"/>
          <p:cNvSpPr/>
          <p:nvPr/>
        </p:nvSpPr>
        <p:spPr>
          <a:xfrm>
            <a:off x="1783080" y="4727448"/>
            <a:ext cx="914" cy="109728"/>
          </a:xfrm>
          <a:prstGeom prst="line">
            <a:avLst/>
          </a:prstGeom>
          <a:noFill/>
          <a:ln w="15875">
            <a:solidFill>
              <a:srgbClr val="0B2545"/>
            </a:solidFill>
            <a:prstDash val="solid"/>
            <a:tailEnd type="triangle"/>
          </a:ln>
        </p:spPr>
      </p:sp>
      <p:sp>
        <p:nvSpPr>
          <p:cNvPr id="30" name="Shape 28"/>
          <p:cNvSpPr/>
          <p:nvPr/>
        </p:nvSpPr>
        <p:spPr>
          <a:xfrm>
            <a:off x="457200" y="4846320"/>
            <a:ext cx="2651760" cy="420624"/>
          </a:xfrm>
          <a:prstGeom prst="roundRect">
            <a:avLst>
              <a:gd name="adj" fmla="val 17391"/>
            </a:avLst>
          </a:prstGeom>
          <a:solidFill>
            <a:srgbClr val="F3F6F9"/>
          </a:solidFill>
          <a:ln w="9525">
            <a:solidFill>
              <a:srgbClr val="C9D3DD"/>
            </a:solidFill>
            <a:prstDash val="solid"/>
          </a:ln>
        </p:spPr>
      </p:sp>
      <p:sp>
        <p:nvSpPr>
          <p:cNvPr id="31" name="Text 29"/>
          <p:cNvSpPr txBox="1"/>
          <p:nvPr/>
        </p:nvSpPr>
        <p:spPr>
          <a:xfrm>
            <a:off x="594360" y="4846320"/>
            <a:ext cx="2468880" cy="42062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4  Clear if needed</a:t>
            </a:r>
            <a:endParaRPr lang="en-US" sz="1300" dirty="0"/>
          </a:p>
        </p:txBody>
      </p:sp>
      <p:sp>
        <p:nvSpPr>
          <p:cNvPr id="32" name="Shape 30"/>
          <p:cNvSpPr/>
          <p:nvPr/>
        </p:nvSpPr>
        <p:spPr>
          <a:xfrm>
            <a:off x="1783080" y="5276088"/>
            <a:ext cx="914" cy="109728"/>
          </a:xfrm>
          <a:prstGeom prst="line">
            <a:avLst/>
          </a:prstGeom>
          <a:noFill/>
          <a:ln w="15875">
            <a:solidFill>
              <a:srgbClr val="0B2545"/>
            </a:solidFill>
            <a:prstDash val="solid"/>
            <a:tailEnd type="triangle"/>
          </a:ln>
        </p:spPr>
      </p:sp>
      <p:sp>
        <p:nvSpPr>
          <p:cNvPr id="33" name="Shape 31"/>
          <p:cNvSpPr/>
          <p:nvPr/>
        </p:nvSpPr>
        <p:spPr>
          <a:xfrm>
            <a:off x="457200" y="5394960"/>
            <a:ext cx="2651760" cy="420624"/>
          </a:xfrm>
          <a:prstGeom prst="roundRect">
            <a:avLst>
              <a:gd name="adj" fmla="val 17391"/>
            </a:avLst>
          </a:prstGeom>
          <a:solidFill>
            <a:srgbClr val="E4F3EA"/>
          </a:solidFill>
          <a:ln w="9525">
            <a:solidFill>
              <a:srgbClr val="2E8B57"/>
            </a:solidFill>
            <a:prstDash val="solid"/>
          </a:ln>
        </p:spPr>
      </p:sp>
      <p:sp>
        <p:nvSpPr>
          <p:cNvPr id="34" name="Text 32"/>
          <p:cNvSpPr txBox="1"/>
          <p:nvPr/>
        </p:nvSpPr>
        <p:spPr>
          <a:xfrm>
            <a:off x="594360" y="5394960"/>
            <a:ext cx="2468880" cy="420624"/>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5  Recovery verified</a:t>
            </a:r>
            <a:endParaRPr lang="en-US" sz="1300" dirty="0"/>
          </a:p>
        </p:txBody>
      </p:sp>
      <p:sp>
        <p:nvSpPr>
          <p:cNvPr id="35" name="Text 33"/>
          <p:cNvSpPr txBox="1"/>
          <p:nvPr/>
        </p:nvSpPr>
        <p:spPr>
          <a:xfrm>
            <a:off x="3291840" y="5120640"/>
            <a:ext cx="2560320" cy="822960"/>
          </a:xfrm>
          <a:prstGeom prst="rect">
            <a:avLst/>
          </a:prstGeom>
          <a:noFill/>
          <a:ln/>
        </p:spPr>
        <p:txBody>
          <a:bodyPr wrap="square" lIns="0" tIns="0" rIns="0" bIns="0" rtlCol="0" anchor="t"/>
          <a:lstStyle/>
          <a:p>
            <a:pPr indent="0" marL="0">
              <a:buNone/>
            </a:pPr>
            <a:r>
              <a:rPr lang="en-US" sz="1200" i="1" dirty="0">
                <a:solidFill>
                  <a:srgbClr val="5B6B7F"/>
                </a:solidFill>
                <a:latin typeface="Calibri" pitchFamily="34" charset="0"/>
                <a:ea typeface="Calibri" pitchFamily="34" charset="-122"/>
                <a:cs typeface="Calibri" pitchFamily="34" charset="-120"/>
              </a:rPr>
              <a:t>Unresolved conditions stay open. An acknowledgement is not proof of clearance.</a:t>
            </a:r>
            <a:endParaRPr lang="en-US" sz="1200" dirty="0"/>
          </a:p>
        </p:txBody>
      </p:sp>
      <p:sp>
        <p:nvSpPr>
          <p:cNvPr id="36" name="Text 34"/>
          <p:cNvSpPr txBox="1"/>
          <p:nvPr/>
        </p:nvSpPr>
        <p:spPr>
          <a:xfrm>
            <a:off x="3291840" y="2788920"/>
            <a:ext cx="411480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What a pilot will actually measure</a:t>
            </a:r>
            <a:endParaRPr lang="en-US" sz="1500" dirty="0"/>
          </a:p>
        </p:txBody>
      </p:sp>
      <p:sp>
        <p:nvSpPr>
          <p:cNvPr id="37" name="Text 35"/>
          <p:cNvSpPr txBox="1"/>
          <p:nvPr/>
        </p:nvSpPr>
        <p:spPr>
          <a:xfrm>
            <a:off x="3291840" y="3154680"/>
            <a:ext cx="4206240" cy="192024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Alert-to-inspection time (min)</a:t>
            </a:r>
            <a:endParaRPr lang="en-US" sz="1300" dirty="0"/>
          </a:p>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Inspections &amp; unnecessary visits</a:t>
            </a:r>
            <a:endParaRPr lang="en-US" sz="1300" dirty="0"/>
          </a:p>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False alerts &amp; missed events</a:t>
            </a:r>
            <a:endParaRPr lang="en-US" sz="1300" dirty="0"/>
          </a:p>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Plastic weighed independently (kg)</a:t>
            </a:r>
            <a:endParaRPr lang="en-US" sz="1300" dirty="0"/>
          </a:p>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Disposal destination</a:t>
            </a:r>
            <a:endParaRPr lang="en-US" sz="1300" dirty="0"/>
          </a:p>
          <a:p>
            <a:pPr marL="342900" indent="-342900">
              <a:spcAft>
                <a:spcPts val="200"/>
              </a:spcAft>
              <a:buSzPct val="100000"/>
              <a:buChar char="•"/>
            </a:pPr>
            <a:r>
              <a:rPr lang="en-US" sz="1300" dirty="0">
                <a:solidFill>
                  <a:srgbClr val="1F2D3D"/>
                </a:solidFill>
                <a:latin typeface="Calibri" pitchFamily="34" charset="0"/>
                <a:ea typeface="Calibri" pitchFamily="34" charset="-122"/>
                <a:cs typeface="Calibri" pitchFamily="34" charset="-120"/>
              </a:rPr>
              <a:t>Operating &amp; servicing cost</a:t>
            </a:r>
            <a:endParaRPr lang="en-US" sz="1300" dirty="0"/>
          </a:p>
        </p:txBody>
      </p:sp>
      <p:sp>
        <p:nvSpPr>
          <p:cNvPr id="38" name="Shape 36"/>
          <p:cNvSpPr/>
          <p:nvPr/>
        </p:nvSpPr>
        <p:spPr>
          <a:xfrm>
            <a:off x="7680960" y="2788920"/>
            <a:ext cx="4023360" cy="1554480"/>
          </a:xfrm>
          <a:prstGeom prst="roundRect">
            <a:avLst>
              <a:gd name="adj" fmla="val 4706"/>
            </a:avLst>
          </a:prstGeom>
          <a:solidFill>
            <a:srgbClr val="E3F4F5"/>
          </a:solidFill>
          <a:ln w="9525">
            <a:solidFill>
              <a:srgbClr val="E3F4F5"/>
            </a:solidFill>
            <a:prstDash val="solid"/>
          </a:ln>
        </p:spPr>
      </p:sp>
      <p:sp>
        <p:nvSpPr>
          <p:cNvPr id="39" name="Text 37"/>
          <p:cNvSpPr txBox="1"/>
          <p:nvPr/>
        </p:nvSpPr>
        <p:spPr>
          <a:xfrm>
            <a:off x="7818120" y="2852928"/>
            <a:ext cx="3794760" cy="1737360"/>
          </a:xfrm>
          <a:prstGeom prst="rect">
            <a:avLst/>
          </a:prstGeom>
          <a:noFill/>
          <a:ln/>
        </p:spPr>
        <p:txBody>
          <a:bodyPr wrap="square" lIns="0" tIns="0" rIns="0" bIns="0" rtlCol="0" anchor="t"/>
          <a:lstStyle/>
          <a:p>
            <a:pPr indent="0" marL="0">
              <a:spcAft>
                <a:spcPts val="200"/>
              </a:spcAft>
              <a:buNone/>
            </a:pPr>
            <a:r>
              <a:rPr lang="en-US" sz="1300" b="1" dirty="0">
                <a:solidFill>
                  <a:srgbClr val="0E8C99"/>
                </a:solidFill>
                <a:latin typeface="Calibri" pitchFamily="34" charset="0"/>
                <a:ea typeface="Calibri" pitchFamily="34" charset="-122"/>
                <a:cs typeface="Calibri" pitchFamily="34" charset="-120"/>
              </a:rPr>
              <a:t>Prospective value (to be measured)</a:t>
            </a:r>
            <a:endParaRPr lang="en-US" sz="1300" dirty="0"/>
          </a:p>
          <a:p>
            <a:pPr marL="342900" indent="-342900">
              <a:spcAft>
                <a:spcPts val="200"/>
              </a:spcAft>
              <a:buSzPct val="100000"/>
              <a:buChar char="•"/>
            </a:pPr>
            <a:r>
              <a:rPr lang="en-US" sz="1300" dirty="0">
                <a:solidFill>
                  <a:srgbClr val="0B2545"/>
                </a:solidFill>
                <a:latin typeface="Calibri" pitchFamily="34" charset="0"/>
                <a:ea typeface="Calibri" pitchFamily="34" charset="-122"/>
                <a:cs typeface="Calibri" pitchFamily="34" charset="-120"/>
              </a:rPr>
              <a:t>Better-timed visits across many booms</a:t>
            </a:r>
            <a:endParaRPr lang="en-US" sz="1300" dirty="0"/>
          </a:p>
          <a:p>
            <a:pPr marL="342900" indent="-342900">
              <a:spcAft>
                <a:spcPts val="200"/>
              </a:spcAft>
              <a:buSzPct val="100000"/>
              <a:buChar char="•"/>
            </a:pPr>
            <a:r>
              <a:rPr lang="en-US" sz="1300" dirty="0">
                <a:solidFill>
                  <a:srgbClr val="0B2545"/>
                </a:solidFill>
                <a:latin typeface="Calibri" pitchFamily="34" charset="0"/>
                <a:ea typeface="Calibri" pitchFamily="34" charset="-122"/>
                <a:cs typeface="Calibri" pitchFamily="34" charset="-120"/>
              </a:rPr>
              <a:t>Booms kept intercepting during storms</a:t>
            </a:r>
            <a:endParaRPr lang="en-US" sz="1300" dirty="0"/>
          </a:p>
          <a:p>
            <a:pPr marL="342900" indent="-342900">
              <a:spcAft>
                <a:spcPts val="200"/>
              </a:spcAft>
              <a:buSzPct val="100000"/>
              <a:buChar char="•"/>
            </a:pPr>
            <a:r>
              <a:rPr lang="en-US" sz="1300" dirty="0">
                <a:solidFill>
                  <a:srgbClr val="0B2545"/>
                </a:solidFill>
                <a:latin typeface="Calibri" pitchFamily="34" charset="0"/>
                <a:ea typeface="Calibri" pitchFamily="34" charset="-122"/>
                <a:cs typeface="Calibri" pitchFamily="34" charset="-120"/>
              </a:rPr>
              <a:t>An evidence trail for O&amp;M contracts</a:t>
            </a:r>
            <a:endParaRPr lang="en-US" sz="1300" dirty="0"/>
          </a:p>
          <a:p>
            <a:pPr marL="342900" indent="-342900">
              <a:spcAft>
                <a:spcPts val="200"/>
              </a:spcAft>
              <a:buSzPct val="100000"/>
              <a:buChar char="•"/>
            </a:pPr>
            <a:r>
              <a:rPr lang="en-US" sz="1300" dirty="0">
                <a:solidFill>
                  <a:srgbClr val="0B2545"/>
                </a:solidFill>
                <a:latin typeface="Calibri" pitchFamily="34" charset="0"/>
                <a:ea typeface="Calibri" pitchFamily="34" charset="-122"/>
                <a:cs typeface="Calibri" pitchFamily="34" charset="-120"/>
              </a:rPr>
              <a:t>Scales by per-site calibration, not one threshold</a:t>
            </a:r>
            <a:endParaRPr lang="en-US" sz="1300" dirty="0"/>
          </a:p>
        </p:txBody>
      </p:sp>
      <p:sp>
        <p:nvSpPr>
          <p:cNvPr id="40" name="Shape 38"/>
          <p:cNvSpPr/>
          <p:nvPr/>
        </p:nvSpPr>
        <p:spPr>
          <a:xfrm>
            <a:off x="7680960" y="4526280"/>
            <a:ext cx="4023360" cy="1508760"/>
          </a:xfrm>
          <a:prstGeom prst="roundRect">
            <a:avLst>
              <a:gd name="adj" fmla="val 4848"/>
            </a:avLst>
          </a:prstGeom>
          <a:solidFill>
            <a:srgbClr val="0B2545"/>
          </a:solidFill>
          <a:ln w="9525">
            <a:solidFill>
              <a:srgbClr val="0B2545"/>
            </a:solidFill>
            <a:prstDash val="solid"/>
          </a:ln>
        </p:spPr>
      </p:sp>
      <p:sp>
        <p:nvSpPr>
          <p:cNvPr id="41" name="Text 39"/>
          <p:cNvSpPr txBox="1"/>
          <p:nvPr/>
        </p:nvSpPr>
        <p:spPr>
          <a:xfrm>
            <a:off x="7818120" y="4572000"/>
            <a:ext cx="3794760" cy="1417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We are not promising a cleaner sea. We are offering a cheap, testable way to know when a boom needs a crew — and the evidence to decide if it is worth it.</a:t>
            </a:r>
            <a:endParaRPr lang="en-US" sz="15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5B4B9A"/>
                </a:solidFill>
                <a:latin typeface="Calibri" pitchFamily="34" charset="0"/>
                <a:ea typeface="Calibri" pitchFamily="34" charset="-122"/>
                <a:cs typeface="Calibri" pitchFamily="34" charset="-120"/>
              </a:rPr>
              <a:t>APPENDIX · A1 HARDWARE</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Sensor and controller interfaces (bench)</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3200400"/>
                <a:gridCol w="3474720"/>
                <a:gridCol w="4572000"/>
              </a:tblGrid>
              <a:tr h="475488">
                <a:tc>
                  <a:txBody>
                    <a:bodyPr/>
                    <a:lstStyle/>
                    <a:p>
                      <a:pPr indent="0" marL="0">
                        <a:buNone/>
                      </a:pPr>
                      <a:r>
                        <a:rPr lang="en-US" sz="1200" b="1" dirty="0">
                          <a:solidFill>
                            <a:srgbClr val="FFFFFF"/>
                          </a:solidFill>
                        </a:rPr>
                        <a:t>Block</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Interface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Design note (to verify)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r>
              <a:tr h="475488">
                <a:tc>
                  <a:txBody>
                    <a:bodyPr/>
                    <a:lstStyle/>
                    <a:p>
                      <a:pPr indent="0" marL="0">
                        <a:buNone/>
                      </a:pPr>
                      <a:r>
                        <a:rPr lang="en-US" sz="1200" dirty="0">
                          <a:solidFill>
                            <a:srgbClr val="1F2D3D"/>
                          </a:solidFill>
                        </a:rPr>
                        <a:t>Level A / B: JSN-SR04T-class ultrasonic</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TRIG / ECHO GPIO, triggered one after the other</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5 V echo → divider or level shifter for 3.3 V ESP32; check blind zone &amp; beam footprint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Load cell + HX711</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DOUT / SCK (2-wire serial)</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Fixture sets loading direction; capacity &amp; overload stop; zero/span, creep checks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75488">
                <a:tc>
                  <a:txBody>
                    <a:bodyPr/>
                    <a:lstStyle/>
                    <a:p>
                      <a:pPr indent="0" marL="0">
                        <a:buNone/>
                      </a:pPr>
                      <a:r>
                        <a:rPr lang="en-US" sz="1200" dirty="0">
                          <a:solidFill>
                            <a:srgbClr val="1F2D3D"/>
                          </a:solidFill>
                        </a:rPr>
                        <a:t>ESP32 dev board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3.3 V logic, Wi-Fi optional</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Timestamps, sequence numbers, validity flags, state machine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Logging</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microSD over SPI, or USB serial to laptop</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Raw + calibrated values, rule &amp; calibration version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75488">
                <a:tc>
                  <a:txBody>
                    <a:bodyPr/>
                    <a:lstStyle/>
                    <a:p>
                      <a:pPr indent="0" marL="0">
                        <a:buNone/>
                      </a:pPr>
                      <a:r>
                        <a:rPr lang="en-US" sz="1200" dirty="0">
                          <a:solidFill>
                            <a:srgbClr val="1F2D3D"/>
                          </a:solidFill>
                        </a:rPr>
                        <a:t>Local indication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GPIO → LED / buzzer (driver if needed)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Shows state and reason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Power (bench)</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Protected USB supply, common ground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Pump on separate appropriate supply; spill containment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bl>
          </a:graphicData>
        </a:graphic>
      </p:graphicFrame>
      <p:sp>
        <p:nvSpPr>
          <p:cNvPr id="5" name="Shape 2"/>
          <p:cNvSpPr/>
          <p:nvPr/>
        </p:nvSpPr>
        <p:spPr>
          <a:xfrm>
            <a:off x="457200" y="4937760"/>
            <a:ext cx="11247120" cy="1097280"/>
          </a:xfrm>
          <a:prstGeom prst="roundRect">
            <a:avLst>
              <a:gd name="adj" fmla="val 6667"/>
            </a:avLst>
          </a:prstGeom>
          <a:solidFill>
            <a:srgbClr val="F3F6F9"/>
          </a:solidFill>
          <a:ln w="9525">
            <a:solidFill>
              <a:srgbClr val="F3F6F9"/>
            </a:solidFill>
            <a:prstDash val="solid"/>
          </a:ln>
        </p:spPr>
      </p:sp>
      <p:sp>
        <p:nvSpPr>
          <p:cNvPr id="6" name="Text 3"/>
          <p:cNvSpPr txBox="1"/>
          <p:nvPr/>
        </p:nvSpPr>
        <p:spPr>
          <a:xfrm>
            <a:off x="640080" y="5010912"/>
            <a:ext cx="10881360" cy="96012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Worked example (illustrative): </a:t>
            </a:r>
            <a:pPr indent="0" marL="0">
              <a:buNone/>
            </a:pPr>
            <a:r>
              <a:rPr lang="en-US" sz="1300" dirty="0">
                <a:solidFill>
                  <a:srgbClr val="1F2D3D"/>
                </a:solidFill>
                <a:latin typeface="Calibri" pitchFamily="34" charset="0"/>
                <a:ea typeface="Calibri" pitchFamily="34" charset="-122"/>
                <a:cs typeface="Calibri" pitchFamily="34" charset="-120"/>
              </a:rPr>
              <a:t>zA = 2.00 m, dA = 0.80 m → hA = 1.20 m;  zB = 2.10 m, dB = 1.00 m → hB = 1.10 m;  Δh = 0.10 m. Raw dA − dB = −0.20 m would be wrong. Combined level uncertainty first estimate ≈ √(uA² + uB²); a Δh inside that is not meaningful.</a:t>
            </a:r>
            <a:endParaRPr lang="en-US" sz="13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5B4B9A"/>
                </a:solidFill>
                <a:latin typeface="Calibri" pitchFamily="34" charset="0"/>
                <a:ea typeface="Calibri" pitchFamily="34" charset="-122"/>
                <a:cs typeface="Calibri" pitchFamily="34" charset="-120"/>
              </a:rPr>
              <a:t>APPENDIX · A2 REFERENCES</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Prior art we checked — and what each shows</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3749040"/>
                <a:gridCol w="4206240"/>
                <a:gridCol w="3291840"/>
              </a:tblGrid>
              <a:tr h="475488">
                <a:tc>
                  <a:txBody>
                    <a:bodyPr/>
                    <a:lstStyle/>
                    <a:p>
                      <a:pPr indent="0" marL="0">
                        <a:buNone/>
                      </a:pPr>
                      <a:r>
                        <a:rPr lang="en-US" sz="1200" b="1" dirty="0">
                          <a:solidFill>
                            <a:srgbClr val="FFFFFF"/>
                          </a:solidFill>
                        </a:rPr>
                        <a:t>Source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5B4B9A"/>
                    </a:solidFill>
                  </a:tcPr>
                </a:tc>
                <a:tc>
                  <a:txBody>
                    <a:bodyPr/>
                    <a:lstStyle/>
                    <a:p>
                      <a:pPr indent="0" marL="0">
                        <a:buNone/>
                      </a:pPr>
                      <a:r>
                        <a:rPr lang="en-US" sz="1200" b="1" dirty="0">
                          <a:solidFill>
                            <a:srgbClr val="FFFFFF"/>
                          </a:solidFill>
                        </a:rPr>
                        <a:t>What it establishes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5B4B9A"/>
                    </a:solidFill>
                  </a:tcPr>
                </a:tc>
                <a:tc>
                  <a:txBody>
                    <a:bodyPr/>
                    <a:lstStyle/>
                    <a:p>
                      <a:pPr indent="0" marL="0">
                        <a:buNone/>
                      </a:pPr>
                      <a:r>
                        <a:rPr lang="en-US" sz="1200" b="1" dirty="0">
                          <a:solidFill>
                            <a:srgbClr val="FFFFFF"/>
                          </a:solidFill>
                        </a:rPr>
                        <a:t>Limit of use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5B4B9A"/>
                    </a:solidFill>
                  </a:tcPr>
                </a:tc>
              </a:tr>
              <a:tr h="475488">
                <a:tc>
                  <a:txBody>
                    <a:bodyPr/>
                    <a:lstStyle/>
                    <a:p>
                      <a:pPr indent="0" marL="0">
                        <a:buNone/>
                      </a:pPr>
                      <a:r>
                        <a:rPr lang="en-US" sz="1200" dirty="0">
                          <a:solidFill>
                            <a:srgbClr val="1F2D3D"/>
                          </a:solidFill>
                        </a:rPr>
                        <a:t>InnovateX 2026-27 brief (Techfest, IIT Bombay)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Theme 3 scope, Round 1 content, 10-min pitch, ~5,000 t/yr estimate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Organiser-quoted estimate, original survey not cited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Aquasition (2019) trash-screen monitoring</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Single &amp; differential level + camera monitoring with alarms exists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Vendor page; fixed screens, UK context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75488">
                <a:tc>
                  <a:txBody>
                    <a:bodyPr/>
                    <a:lstStyle/>
                    <a:p>
                      <a:pPr indent="0" marL="0">
                        <a:buNone/>
                      </a:pPr>
                      <a:r>
                        <a:rPr lang="en-US" sz="1200" dirty="0">
                          <a:solidFill>
                            <a:srgbClr val="1F2D3D"/>
                          </a:solidFill>
                        </a:rPr>
                        <a:t>AMETEK app note: differential measurement, traveling screen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Two transmitters across screen → differential alarm / auto-clean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Industrial intake screens, not floating booms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IPT towing-basin trash-boom tests (IAHR library)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Line tension depends on flow speed and debris accumulation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Scale model; abstract-level access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75488">
                <a:tc>
                  <a:txBody>
                    <a:bodyPr/>
                    <a:lstStyle/>
                    <a:p>
                      <a:pPr indent="0" marL="0">
                        <a:buNone/>
                      </a:pPr>
                      <a:r>
                        <a:rPr lang="en-US" sz="1200" dirty="0">
                          <a:solidFill>
                            <a:srgbClr val="1F2D3D"/>
                          </a:solidFill>
                        </a:rPr>
                        <a:t>Ocean Engineering (2022) trash-net mooring study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Mooring / net loads modelled for trash-blocking nets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Abstract only (full text not accessed)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Fluids (2022) trash-blocking net model</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Net tension rises with width &amp; solidity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Numerical + lab validation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75488">
                <a:tc>
                  <a:txBody>
                    <a:bodyPr/>
                    <a:lstStyle/>
                    <a:p>
                      <a:pPr indent="0" marL="0">
                        <a:buNone/>
                      </a:pPr>
                      <a:r>
                        <a:rPr lang="en-US" sz="1200" dirty="0">
                          <a:solidFill>
                            <a:srgbClr val="1F2D3D"/>
                          </a:solidFill>
                        </a:rPr>
                        <a:t>Free Press Journal, 30 Jul 2026</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BMC ₹14.5 cr, 2-yr O&amp;M contract for booms on 6 rivers/nullahs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News report; no site list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F2D3D"/>
                          </a:solidFill>
                        </a:rPr>
                        <a:t>JSN-SR04T &amp; HX711 datasheets (robu.in)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Component interfaces and ranges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Supplier documents, not field durability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bl>
          </a:graphicData>
        </a:graphic>
      </p:graphicFrame>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5B4B9A"/>
                </a:solidFill>
                <a:latin typeface="Calibri" pitchFamily="34" charset="0"/>
                <a:ea typeface="Calibri" pitchFamily="34" charset="-122"/>
                <a:cs typeface="Calibri" pitchFamily="34" charset="-120"/>
              </a:rPr>
              <a:t>APPENDIX · A3 VALIDATION</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Test matrix and metric definitions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669280" cy="914400"/>
        </p:xfrm>
        <a:graphic>
          <a:graphicData uri="http://schemas.openxmlformats.org/drawingml/2006/table">
            <a:tbl>
              <a:tblPr/>
              <a:tblGrid>
                <a:gridCol w="1737360"/>
                <a:gridCol w="3291840"/>
                <a:gridCol w="640080"/>
              </a:tblGrid>
              <a:tr h="457200">
                <a:tc>
                  <a:txBody>
                    <a:bodyPr/>
                    <a:lstStyle/>
                    <a:p>
                      <a:pPr indent="0" marL="0">
                        <a:buNone/>
                      </a:pPr>
                      <a:r>
                        <a:rPr lang="en-US" sz="1200" b="1" dirty="0">
                          <a:solidFill>
                            <a:srgbClr val="FFFFFF"/>
                          </a:solidFill>
                        </a:rPr>
                        <a:t>Factor</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Levels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indent="0" marL="0">
                        <a:buNone/>
                      </a:pPr>
                      <a:r>
                        <a:rPr lang="en-US" sz="1200" b="1" dirty="0">
                          <a:solidFill>
                            <a:srgbClr val="FFFFFF"/>
                          </a:solidFill>
                        </a:rPr>
                        <a:t>Count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r>
              <a:tr h="457200">
                <a:tc>
                  <a:txBody>
                    <a:bodyPr/>
                    <a:lstStyle/>
                    <a:p>
                      <a:pPr indent="0" marL="0">
                        <a:buNone/>
                      </a:pPr>
                      <a:r>
                        <a:rPr lang="en-US" sz="1200" dirty="0">
                          <a:solidFill>
                            <a:srgbClr val="1F2D3D"/>
                          </a:solidFill>
                        </a:rPr>
                        <a:t>Debris state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clean · partial · heavy (retrievable sample debris)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3</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D3D"/>
                          </a:solidFill>
                        </a:rPr>
                        <a:t>Flow setting</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low · high (checked independently)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2</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200" dirty="0">
                          <a:solidFill>
                            <a:srgbClr val="1F2D3D"/>
                          </a:solidFill>
                        </a:rPr>
                        <a:t>Downstream boundary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free · raised weir (backwater)</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2</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D3D"/>
                          </a:solidFill>
                        </a:rPr>
                        <a:t>Repeats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physically reset, randomised order</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5</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200" dirty="0">
                          <a:solidFill>
                            <a:srgbClr val="1F2D3D"/>
                          </a:solidFill>
                        </a:rPr>
                        <a:t>Evaluation runs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held-out, rules frozen beforehand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60</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297680"/>
            <a:ext cx="5669280" cy="640080"/>
          </a:xfrm>
          <a:prstGeom prst="rect">
            <a:avLst/>
          </a:prstGeom>
          <a:noFill/>
          <a:ln/>
        </p:spPr>
        <p:txBody>
          <a:bodyPr wrap="square" lIns="0" tIns="0" rIns="0" bIns="0" rtlCol="0" anchor="t"/>
          <a:lstStyle/>
          <a:p>
            <a:pPr indent="0" marL="0">
              <a:buNone/>
            </a:pPr>
            <a:r>
              <a:rPr lang="en-US" sz="1300" i="1" dirty="0">
                <a:solidFill>
                  <a:srgbClr val="5B6B7F"/>
                </a:solidFill>
                <a:latin typeface="Calibri" pitchFamily="34" charset="0"/>
                <a:ea typeface="Calibri" pitchFamily="34" charset="-122"/>
                <a:cs typeface="Calibri" pitchFamily="34" charset="-120"/>
              </a:rPr>
              <a:t>Plus separate fault-injection and recovery runs (test E). Calibration runs are kept apart from evaluation runs.</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92240" y="1417320"/>
          <a:ext cx="5212080" cy="914400"/>
        </p:xfrm>
        <a:graphic>
          <a:graphicData uri="http://schemas.openxmlformats.org/drawingml/2006/table">
            <a:tbl>
              <a:tblPr/>
              <a:tblGrid>
                <a:gridCol w="2103120"/>
                <a:gridCol w="3108960"/>
              </a:tblGrid>
              <a:tr h="457200">
                <a:tc>
                  <a:txBody>
                    <a:bodyPr/>
                    <a:lstStyle/>
                    <a:p>
                      <a:pPr indent="0" marL="0">
                        <a:buNone/>
                      </a:pPr>
                      <a:r>
                        <a:rPr lang="en-US" sz="1200" b="1" dirty="0">
                          <a:solidFill>
                            <a:srgbClr val="FFFFFF"/>
                          </a:solidFill>
                        </a:rPr>
                        <a:t>Metric</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c>
                  <a:txBody>
                    <a:bodyPr/>
                    <a:lstStyle/>
                    <a:p>
                      <a:pPr indent="0" marL="0">
                        <a:buNone/>
                      </a:pPr>
                      <a:r>
                        <a:rPr lang="en-US" sz="1200" b="1" dirty="0">
                          <a:solidFill>
                            <a:srgbClr val="FFFFFF"/>
                          </a:solidFill>
                        </a:rPr>
                        <a:t>Definition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r>
              <a:tr h="457200">
                <a:tc>
                  <a:txBody>
                    <a:bodyPr/>
                    <a:lstStyle/>
                    <a:p>
                      <a:pPr indent="0" marL="0">
                        <a:buNone/>
                      </a:pPr>
                      <a:r>
                        <a:rPr lang="en-US" sz="1200" dirty="0">
                          <a:solidFill>
                            <a:srgbClr val="1F2D3D"/>
                          </a:solidFill>
                        </a:rPr>
                        <a:t>False-positive rate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FP / (FP + TN)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D3D"/>
                          </a:solidFill>
                        </a:rPr>
                        <a:t>Missed-event rate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FN / (FN + TP)</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200" dirty="0">
                          <a:solidFill>
                            <a:srgbClr val="1F2D3D"/>
                          </a:solidFill>
                        </a:rPr>
                        <a:t>Detection delay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event onset → qualifying alert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D3D"/>
                          </a:solidFill>
                        </a:rPr>
                        <a:t>Uncertain-output rate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UNCERTAIN outputs / all outputs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57200">
                <a:tc>
                  <a:txBody>
                    <a:bodyPr/>
                    <a:lstStyle/>
                    <a:p>
                      <a:pPr indent="0" marL="0">
                        <a:buNone/>
                      </a:pPr>
                      <a:r>
                        <a:rPr lang="en-US" sz="1200" dirty="0">
                          <a:solidFill>
                            <a:srgbClr val="1F2D3D"/>
                          </a:solidFill>
                        </a:rPr>
                        <a:t>Valid-data fraction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valid samples / expected samples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492240" y="4297680"/>
            <a:ext cx="5212080" cy="822960"/>
          </a:xfrm>
          <a:prstGeom prst="rect">
            <a:avLst/>
          </a:prstGeom>
          <a:noFill/>
          <a:ln/>
        </p:spPr>
        <p:txBody>
          <a:bodyPr wrap="square" lIns="0" tIns="0" rIns="0" bIns="0" rtlCol="0" anchor="t"/>
          <a:lstStyle/>
          <a:p>
            <a:pPr indent="0" marL="0">
              <a:buNone/>
            </a:pPr>
            <a:r>
              <a:rPr lang="en-US" sz="1300" i="1" dirty="0">
                <a:solidFill>
                  <a:srgbClr val="5B6B7F"/>
                </a:solidFill>
                <a:latin typeface="Calibri" pitchFamily="34" charset="0"/>
                <a:ea typeface="Calibri" pitchFamily="34" charset="-122"/>
                <a:cs typeface="Calibri" pitchFamily="34" charset="-120"/>
              </a:rPr>
              <a:t>Report raw counts and run conditions. Abstentions are not counted as correct. A 60-run bench test cannot support universal accuracy claims.</a:t>
            </a:r>
            <a:endParaRPr lang="en-US" sz="13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5B4B9A"/>
                </a:solidFill>
                <a:latin typeface="Calibri" pitchFamily="34" charset="0"/>
                <a:ea typeface="Calibri" pitchFamily="34" charset="-122"/>
                <a:cs typeface="Calibri" pitchFamily="34" charset="-120"/>
              </a:rPr>
              <a:t>APPENDIX · A4 COST</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Budget assumptions and what is excluded</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6766560" cy="914400"/>
        </p:xfrm>
        <a:graphic>
          <a:graphicData uri="http://schemas.openxmlformats.org/drawingml/2006/table">
            <a:tbl>
              <a:tblPr/>
              <a:tblGrid>
                <a:gridCol w="5669280"/>
                <a:gridCol w="1097280"/>
              </a:tblGrid>
              <a:tr h="384048">
                <a:tc>
                  <a:txBody>
                    <a:bodyPr/>
                    <a:lstStyle/>
                    <a:p>
                      <a:pPr algn="l" indent="0" marL="0">
                        <a:buNone/>
                      </a:pPr>
                      <a:r>
                        <a:rPr lang="en-US" sz="1200" b="1" dirty="0">
                          <a:solidFill>
                            <a:srgbClr val="FFFFFF"/>
                          </a:solidFill>
                        </a:rPr>
                        <a:t>Bench planning item</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c>
                  <a:txBody>
                    <a:bodyPr/>
                    <a:lstStyle/>
                    <a:p>
                      <a:pPr algn="r" indent="0" marL="0">
                        <a:buNone/>
                      </a:pPr>
                      <a:r>
                        <a:rPr lang="en-US" sz="1200" b="1" dirty="0">
                          <a:solidFill>
                            <a:srgbClr val="FFFFFF"/>
                          </a:solidFill>
                        </a:rPr>
                        <a:t>INR</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B2545"/>
                    </a:solidFill>
                  </a:tcPr>
                </a:tc>
              </a:tr>
              <a:tr h="384048">
                <a:tc>
                  <a:txBody>
                    <a:bodyPr/>
                    <a:lstStyle/>
                    <a:p>
                      <a:pPr algn="l" indent="0" marL="0">
                        <a:buNone/>
                      </a:pPr>
                      <a:r>
                        <a:rPr lang="en-US" sz="1200" dirty="0">
                          <a:solidFill>
                            <a:srgbClr val="1F2D3D"/>
                          </a:solidFill>
                        </a:rPr>
                        <a:t>ESP32, two level modules, load cell, HX711, logging, wiring, sensor fixtures</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3,400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D3D"/>
                          </a:solidFill>
                        </a:rPr>
                        <a:t>Transparent channel + leak containment</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dirty="0">
                          <a:solidFill>
                            <a:srgbClr val="1F2D3D"/>
                          </a:solidFill>
                        </a:rPr>
                        <a:t>1,800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84048">
                <a:tc>
                  <a:txBody>
                    <a:bodyPr/>
                    <a:lstStyle/>
                    <a:p>
                      <a:pPr algn="l" indent="0" marL="0">
                        <a:buNone/>
                      </a:pPr>
                      <a:r>
                        <a:rPr lang="en-US" sz="1200" dirty="0">
                          <a:solidFill>
                            <a:srgbClr val="1F2D3D"/>
                          </a:solidFill>
                        </a:rPr>
                        <a:t>Pump, hoses and reservoir</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1,700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D3D"/>
                          </a:solidFill>
                        </a:rPr>
                        <a:t>Model boom, mooring and frame</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dirty="0">
                          <a:solidFill>
                            <a:srgbClr val="1F2D3D"/>
                          </a:solidFill>
                        </a:rPr>
                        <a:t>650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84048">
                <a:tc>
                  <a:txBody>
                    <a:bodyPr/>
                    <a:lstStyle/>
                    <a:p>
                      <a:pPr algn="l" indent="0" marL="0">
                        <a:buNone/>
                      </a:pPr>
                      <a:r>
                        <a:rPr lang="en-US" sz="1200" dirty="0">
                          <a:solidFill>
                            <a:srgbClr val="1F2D3D"/>
                          </a:solidFill>
                        </a:rPr>
                        <a:t>Adjustable weir / downstream level control</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350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F2D3D"/>
                          </a:solidFill>
                        </a:rPr>
                        <a:t>Reference rulers, weights and flow check</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dirty="0">
                          <a:solidFill>
                            <a:srgbClr val="1F2D3D"/>
                          </a:solidFill>
                        </a:rPr>
                        <a:t>450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84048">
                <a:tc>
                  <a:txBody>
                    <a:bodyPr/>
                    <a:lstStyle/>
                    <a:p>
                      <a:pPr algn="l" indent="0" marL="0">
                        <a:buNone/>
                      </a:pPr>
                      <a:r>
                        <a:rPr lang="en-US" sz="1200" dirty="0">
                          <a:solidFill>
                            <a:srgbClr val="1F2D3D"/>
                          </a:solidFill>
                        </a:rPr>
                        <a:t>Fabrication and miscellaneous</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F2D3D"/>
                          </a:solidFill>
                        </a:rPr>
                        <a:t>300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1F2D3D"/>
                          </a:solidFill>
                        </a:rPr>
                        <a:t>Base total</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algn="r" indent="0" marL="0">
                        <a:buNone/>
                      </a:pPr>
                      <a:r>
                        <a:rPr lang="en-US" sz="1200" b="1" dirty="0">
                          <a:solidFill>
                            <a:srgbClr val="1F2D3D"/>
                          </a:solidFill>
                        </a:rPr>
                        <a:t>8,650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384048">
                <a:tc>
                  <a:txBody>
                    <a:bodyPr/>
                    <a:lstStyle/>
                    <a:p>
                      <a:pPr algn="l" indent="0" marL="0">
                        <a:buNone/>
                      </a:pPr>
                      <a:r>
                        <a:rPr lang="en-US" sz="1200" b="1" dirty="0">
                          <a:solidFill>
                            <a:srgbClr val="1F2D3D"/>
                          </a:solidFill>
                        </a:rPr>
                        <a:t>15% reserve</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1F2D3D"/>
                          </a:solidFill>
                        </a:rPr>
                        <a:t>1,297.50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384048">
                <a:tc>
                  <a:txBody>
                    <a:bodyPr/>
                    <a:lstStyle/>
                    <a:p>
                      <a:pPr algn="l" indent="0" marL="0">
                        <a:buNone/>
                      </a:pPr>
                      <a:r>
                        <a:rPr lang="en-US" sz="1200" b="1" dirty="0">
                          <a:solidFill>
                            <a:srgbClr val="FFFFFF"/>
                          </a:solidFill>
                        </a:rPr>
                        <a:t>Planned total (rounded from 9,947.50)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c>
                  <a:txBody>
                    <a:bodyPr/>
                    <a:lstStyle/>
                    <a:p>
                      <a:pPr algn="r" indent="0" marL="0">
                        <a:buNone/>
                      </a:pPr>
                      <a:r>
                        <a:rPr lang="en-US" sz="1200" b="1" dirty="0">
                          <a:solidFill>
                            <a:srgbClr val="FFFFFF"/>
                          </a:solidFill>
                        </a:rPr>
                        <a:t>9,950</a:t>
                      </a:r>
                      <a:endParaRPr lang="en-US" sz="1200" dirty="0"/>
                    </a:p>
                  </a:txBody>
                  <a:tcPr marL="76200" marR="76200" marT="38100" marB="38100">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0E8C99"/>
                    </a:solidFill>
                  </a:tcPr>
                </a:tc>
              </a:tr>
            </a:tbl>
          </a:graphicData>
        </a:graphic>
      </p:graphicFrame>
      <p:sp>
        <p:nvSpPr>
          <p:cNvPr id="5" name="Shape 2"/>
          <p:cNvSpPr/>
          <p:nvPr/>
        </p:nvSpPr>
        <p:spPr>
          <a:xfrm>
            <a:off x="7589520" y="1417320"/>
            <a:ext cx="4114800" cy="4206240"/>
          </a:xfrm>
          <a:prstGeom prst="roundRect">
            <a:avLst>
              <a:gd name="adj" fmla="val 1778"/>
            </a:avLst>
          </a:prstGeom>
          <a:solidFill>
            <a:srgbClr val="FCEBDD"/>
          </a:solidFill>
          <a:ln w="9525">
            <a:solidFill>
              <a:srgbClr val="FCEBDD"/>
            </a:solidFill>
            <a:prstDash val="solid"/>
          </a:ln>
        </p:spPr>
      </p:sp>
      <p:sp>
        <p:nvSpPr>
          <p:cNvPr id="6" name="Text 3"/>
          <p:cNvSpPr txBox="1"/>
          <p:nvPr/>
        </p:nvSpPr>
        <p:spPr>
          <a:xfrm>
            <a:off x="7772400" y="1554480"/>
            <a:ext cx="3794760" cy="3931920"/>
          </a:xfrm>
          <a:prstGeom prst="rect">
            <a:avLst/>
          </a:prstGeom>
          <a:noFill/>
          <a:ln/>
        </p:spPr>
        <p:txBody>
          <a:bodyPr wrap="square" lIns="0" tIns="0" rIns="0" bIns="0" rtlCol="0" anchor="t"/>
          <a:lstStyle/>
          <a:p>
            <a:pPr indent="0" marL="0">
              <a:spcAft>
                <a:spcPts val="400"/>
              </a:spcAft>
              <a:buNone/>
            </a:pPr>
            <a:r>
              <a:rPr lang="en-US" sz="1300" b="1" dirty="0">
                <a:solidFill>
                  <a:srgbClr val="8A3B0F"/>
                </a:solidFill>
                <a:latin typeface="Calibri" pitchFamily="34" charset="0"/>
                <a:ea typeface="Calibri" pitchFamily="34" charset="-122"/>
                <a:cs typeface="Calibri" pitchFamily="34" charset="-120"/>
              </a:rPr>
              <a:t>Not included (field costs, quote per site)</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Field-rated sensors and marine tension link</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Enclosure, corrosion protection, mounting</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Power (solar/battery) and communication</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Survey, installation, commissioning</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Cleaning, recalibration, replacement visits</a:t>
            </a:r>
            <a:endParaRPr lang="en-US" sz="1300" dirty="0"/>
          </a:p>
          <a:p>
            <a:pPr marL="342900" indent="-342900">
              <a:spcAft>
                <a:spcPts val="400"/>
              </a:spcAft>
              <a:buSzPct val="100000"/>
              <a:buChar char="•"/>
            </a:pPr>
            <a:r>
              <a:rPr lang="en-US" sz="1300" dirty="0">
                <a:solidFill>
                  <a:srgbClr val="1F2D3D"/>
                </a:solidFill>
                <a:latin typeface="Calibri" pitchFamily="34" charset="0"/>
                <a:ea typeface="Calibri" pitchFamily="34" charset="-122"/>
                <a:cs typeface="Calibri" pitchFamily="34" charset="-120"/>
              </a:rPr>
              <a:t>Crew time for handling alerts</a:t>
            </a:r>
            <a:endParaRPr lang="en-US" sz="1300" dirty="0"/>
          </a:p>
          <a:p>
            <a:pPr indent="0" marL="0">
              <a:spcAft>
                <a:spcPts val="400"/>
              </a:spcAft>
              <a:buNone/>
            </a:pPr>
            <a:r>
              <a:rPr lang="en-US" sz="1300" b="1" dirty="0">
                <a:solidFill>
                  <a:srgbClr val="0B2545"/>
                </a:solidFill>
                <a:latin typeface="Calibri" pitchFamily="34" charset="0"/>
                <a:ea typeface="Calibri" pitchFamily="34" charset="-122"/>
                <a:cs typeface="Calibri" pitchFamily="34" charset="-120"/>
              </a:rPr>
              <a:t>Planning ceiling ₹12,000 → ~₹2,050 headroom.</a:t>
            </a:r>
            <a:endParaRPr lang="en-US" sz="1300" dirty="0"/>
          </a:p>
        </p:txBody>
      </p:sp>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11247120" cy="274320"/>
          </a:xfrm>
          <a:prstGeom prst="rect">
            <a:avLst/>
          </a:prstGeom>
          <a:noFill/>
          <a:ln/>
        </p:spPr>
        <p:txBody>
          <a:bodyPr wrap="square" lIns="0" tIns="0" rIns="0" bIns="0" rtlCol="0" anchor="t"/>
          <a:lstStyle/>
          <a:p>
            <a:pPr indent="0" marL="0">
              <a:buNone/>
            </a:pPr>
            <a:r>
              <a:rPr lang="en-US" sz="1200" b="1" spc="200" kern="0" dirty="0">
                <a:solidFill>
                  <a:srgbClr val="5B4B9A"/>
                </a:solidFill>
                <a:latin typeface="Calibri" pitchFamily="34" charset="0"/>
                <a:ea typeface="Calibri" pitchFamily="34" charset="-122"/>
                <a:cs typeface="Calibri" pitchFamily="34" charset="-120"/>
              </a:rPr>
              <a:t>APPENDIX · A5 RISKS</a:t>
            </a:r>
            <a:endParaRPr lang="en-US" sz="1200" dirty="0"/>
          </a:p>
        </p:txBody>
      </p:sp>
      <p:sp>
        <p:nvSpPr>
          <p:cNvPr id="3" name="Text 1"/>
          <p:cNvSpPr txBox="1"/>
          <p:nvPr/>
        </p:nvSpPr>
        <p:spPr>
          <a:xfrm>
            <a:off x="457200" y="566928"/>
            <a:ext cx="11247120" cy="685800"/>
          </a:xfrm>
          <a:prstGeom prst="rect">
            <a:avLst/>
          </a:prstGeom>
          <a:noFill/>
          <a:ln/>
        </p:spPr>
        <p:txBody>
          <a:bodyPr wrap="square" lIns="0" tIns="0" rIns="0" bIns="0" rtlCol="0" anchor="ctr">
            <a:normAutofit/>
          </a:bodyPr>
          <a:lstStyle/>
          <a:p>
            <a:pPr indent="0" marL="0">
              <a:buNone/>
            </a:pPr>
            <a:r>
              <a:rPr lang="en-US" sz="2800" b="1" dirty="0">
                <a:solidFill>
                  <a:srgbClr val="0B2545"/>
                </a:solidFill>
                <a:latin typeface="Calibri" pitchFamily="34" charset="0"/>
                <a:ea typeface="Calibri" pitchFamily="34" charset="-122"/>
                <a:cs typeface="Calibri" pitchFamily="34" charset="-120"/>
              </a:rPr>
              <a:t>Limitations and deployment risks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47120" cy="914400"/>
        </p:xfrm>
        <a:graphic>
          <a:graphicData uri="http://schemas.openxmlformats.org/drawingml/2006/table">
            <a:tbl>
              <a:tblPr/>
              <a:tblGrid>
                <a:gridCol w="3840480"/>
                <a:gridCol w="2743200"/>
                <a:gridCol w="4663440"/>
              </a:tblGrid>
              <a:tr h="438912">
                <a:tc>
                  <a:txBody>
                    <a:bodyPr/>
                    <a:lstStyle/>
                    <a:p>
                      <a:pPr indent="0" marL="0">
                        <a:buNone/>
                      </a:pPr>
                      <a:r>
                        <a:rPr lang="en-US" sz="1200" b="1" dirty="0">
                          <a:solidFill>
                            <a:srgbClr val="FFFFFF"/>
                          </a:solidFill>
                        </a:rPr>
                        <a:t>Risk</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B83A3A"/>
                    </a:solidFill>
                  </a:tcPr>
                </a:tc>
                <a:tc>
                  <a:txBody>
                    <a:bodyPr/>
                    <a:lstStyle/>
                    <a:p>
                      <a:pPr indent="0" marL="0">
                        <a:buNone/>
                      </a:pPr>
                      <a:r>
                        <a:rPr lang="en-US" sz="1200" b="1" dirty="0">
                          <a:solidFill>
                            <a:srgbClr val="FFFFFF"/>
                          </a:solidFill>
                        </a:rPr>
                        <a:t>Consequence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B83A3A"/>
                    </a:solidFill>
                  </a:tcPr>
                </a:tc>
                <a:tc>
                  <a:txBody>
                    <a:bodyPr/>
                    <a:lstStyle/>
                    <a:p>
                      <a:pPr indent="0" marL="0">
                        <a:buNone/>
                      </a:pPr>
                      <a:r>
                        <a:rPr lang="en-US" sz="1200" b="1" dirty="0">
                          <a:solidFill>
                            <a:srgbClr val="FFFFFF"/>
                          </a:solidFill>
                        </a:rPr>
                        <a:t>Planned response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B83A3A"/>
                    </a:solidFill>
                  </a:tcPr>
                </a:tc>
              </a:tr>
              <a:tr h="438912">
                <a:tc>
                  <a:txBody>
                    <a:bodyPr/>
                    <a:lstStyle/>
                    <a:p>
                      <a:pPr indent="0" marL="0">
                        <a:buNone/>
                      </a:pPr>
                      <a:r>
                        <a:rPr lang="en-US" sz="1200" dirty="0">
                          <a:solidFill>
                            <a:srgbClr val="1F2D3D"/>
                          </a:solidFill>
                        </a:rPr>
                        <a:t>Foam, spray, turbulence under ultrasonic</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Invalid or wrong range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Validity flags, mounting checks, challenge tests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D3D"/>
                          </a:solidFill>
                        </a:rPr>
                        <a:t>Bracket / datum movement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False Δh</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Survey reference checks, recalibrate after remount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38912">
                <a:tc>
                  <a:txBody>
                    <a:bodyPr/>
                    <a:lstStyle/>
                    <a:p>
                      <a:pPr indent="0" marL="0">
                        <a:buNone/>
                      </a:pPr>
                      <a:r>
                        <a:rPr lang="en-US" sz="1200" dirty="0">
                          <a:solidFill>
                            <a:srgbClr val="1F2D3D"/>
                          </a:solidFill>
                        </a:rPr>
                        <a:t>Load-cell drift, fixture friction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Wrong tension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Zero/span, creep, hysteresis checks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D3D"/>
                          </a:solidFill>
                        </a:rPr>
                        <a:t>Slack or shifted mooring</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Misleading load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UNCERTAIN state + physical inspection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38912">
                <a:tc>
                  <a:txBody>
                    <a:bodyPr/>
                    <a:lstStyle/>
                    <a:p>
                      <a:pPr indent="0" marL="0">
                        <a:buNone/>
                      </a:pPr>
                      <a:r>
                        <a:rPr lang="en-US" sz="1200" dirty="0">
                          <a:solidFill>
                            <a:srgbClr val="1F2D3D"/>
                          </a:solidFill>
                        </a:rPr>
                        <a:t>Tide, backwater, reverse flow</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Ambiguous hydraulics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Site-specific operating envelope → UNCERTAIN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D3D"/>
                          </a:solidFill>
                        </a:rPr>
                        <a:t>Shallow or angled boom</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Δh too small to measure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Gate A: stop if inside uncertainty</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38912">
                <a:tc>
                  <a:txBody>
                    <a:bodyPr/>
                    <a:lstStyle/>
                    <a:p>
                      <a:pPr indent="0" marL="0">
                        <a:buNone/>
                      </a:pPr>
                      <a:r>
                        <a:rPr lang="en-US" sz="1200" dirty="0">
                          <a:solidFill>
                            <a:srgbClr val="1F2D3D"/>
                          </a:solidFill>
                        </a:rPr>
                        <a:t>Network / power / SD failure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Stale or missing data</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Local buffer, stale flag, fault record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1F2D3D"/>
                          </a:solidFill>
                        </a:rPr>
                        <a:t>Corrosion, fouling (field)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Drift, lost access</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c>
                  <a:txBody>
                    <a:bodyPr/>
                    <a:lstStyle/>
                    <a:p>
                      <a:pPr indent="0" marL="0">
                        <a:buNone/>
                      </a:pPr>
                      <a:r>
                        <a:rPr lang="en-US" sz="1200" dirty="0">
                          <a:solidFill>
                            <a:srgbClr val="1F2D3D"/>
                          </a:solidFill>
                        </a:rPr>
                        <a:t>Field-rated materials; service interval TBD</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3F6F9"/>
                    </a:solidFill>
                  </a:tcPr>
                </a:tc>
              </a:tr>
              <a:tr h="438912">
                <a:tc>
                  <a:txBody>
                    <a:bodyPr/>
                    <a:lstStyle/>
                    <a:p>
                      <a:pPr indent="0" marL="0">
                        <a:buNone/>
                      </a:pPr>
                      <a:r>
                        <a:rPr lang="en-US" sz="1200" dirty="0">
                          <a:solidFill>
                            <a:srgbClr val="1F2D3D"/>
                          </a:solidFill>
                        </a:rPr>
                        <a:t>No crew available</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Alert causes no action</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indent="0" marL="0">
                        <a:buNone/>
                      </a:pPr>
                      <a:r>
                        <a:rPr lang="en-US" sz="1200" dirty="0">
                          <a:solidFill>
                            <a:srgbClr val="1F2D3D"/>
                          </a:solidFill>
                        </a:rPr>
                        <a:t>Agree responsibility before any pilot</a:t>
                      </a:r>
                      <a:endParaRPr lang="en-US" sz="1200" dirty="0"/>
                    </a:p>
                  </a:txBody>
                  <a:tcPr marL="76200" marR="76200" marT="38100" marB="38100"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73952"/>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F"/>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StarDust - InnovateX Round 1</dc:title>
  <dc:subject>PptxGenJS Presentation</dc:subject>
  <dc:creator>Team StarDust</dc:creator>
  <cp:lastModifiedBy>Team StarDust</cp:lastModifiedBy>
  <cp:revision>1</cp:revision>
  <dcterms:created xsi:type="dcterms:W3CDTF">2026-10-29T17:43:19Z</dcterms:created>
  <dcterms:modified xsi:type="dcterms:W3CDTF">2026-10-29T17:43:19Z</dcterms:modified>
</cp:coreProperties>
</file>